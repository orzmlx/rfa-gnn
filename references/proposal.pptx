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3"/>
    <p:sldId id="285" r:id="rId4"/>
    <p:sldId id="286" r:id="rId5"/>
    <p:sldId id="257" r:id="rId6"/>
    <p:sldId id="258" r:id="rId7"/>
    <p:sldId id="279" r:id="rId8"/>
    <p:sldId id="259" r:id="rId9"/>
    <p:sldId id="274" r:id="rId10"/>
    <p:sldId id="284" r:id="rId11"/>
    <p:sldId id="275" r:id="rId12"/>
    <p:sldId id="281" r:id="rId13"/>
    <p:sldId id="260" r:id="rId14"/>
    <p:sldId id="261" r:id="rId15"/>
    <p:sldId id="262" r:id="rId16"/>
    <p:sldId id="263" r:id="rId17"/>
    <p:sldId id="264" r:id="rId18"/>
    <p:sldId id="265" r:id="rId19"/>
    <p:sldId id="266" r:id="rId20"/>
    <p:sldId id="267" r:id="rId21"/>
    <p:sldId id="268" r:id="rId22"/>
    <p:sldId id="282" r:id="rId23"/>
    <p:sldId id="269" r:id="rId24"/>
    <p:sldId id="271" r:id="rId25"/>
    <p:sldId id="283" r:id="rId26"/>
    <p:sldId id="270" r:id="rId27"/>
    <p:sldId id="273" r:id="rId28"/>
    <p:sldId id="280" r:id="rId29"/>
    <p:sldId id="272" r:id="rId30"/>
    <p:sldId id="276" r:id="rId31"/>
    <p:sldId id="277" r:id="rId32"/>
    <p:sldId id="278" r:id="rId33"/>
  </p:sldIdLst>
  <p:sldSz cx="9144000" cy="6858000" type="screen4x3"/>
  <p:notesSz cx="9931400" cy="67945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00"/>
    <a:srgbClr val="B08600"/>
    <a:srgbClr val="00CC66"/>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08" autoAdjust="0"/>
  </p:normalViewPr>
  <p:slideViewPr>
    <p:cSldViewPr showGuides="1">
      <p:cViewPr>
        <p:scale>
          <a:sx n="125" d="100"/>
          <a:sy n="125" d="100"/>
        </p:scale>
        <p:origin x="1194" y="-5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3" d="100"/>
          <a:sy n="83" d="100"/>
        </p:scale>
        <p:origin x="-1992" y="-84"/>
      </p:cViewPr>
      <p:guideLst>
        <p:guide orient="horz" pos="2140"/>
        <p:guide pos="3128"/>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notesMaster" Target="notesMasters/notesMaster1.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3607" cy="339725"/>
          </a:xfrm>
          <a:prstGeom prst="rect">
            <a:avLst/>
          </a:prstGeom>
        </p:spPr>
        <p:txBody>
          <a:bodyPr vert="horz" lIns="91440" tIns="45720" rIns="91440" bIns="45720" rtlCol="0"/>
          <a:lstStyle>
            <a:lvl1pPr algn="l">
              <a:defRPr sz="1200"/>
            </a:lvl1pPr>
          </a:lstStyle>
          <a:p>
            <a:endParaRPr lang="sv-SE"/>
          </a:p>
        </p:txBody>
      </p:sp>
      <p:sp>
        <p:nvSpPr>
          <p:cNvPr id="3" name="Date Placeholder 2"/>
          <p:cNvSpPr>
            <a:spLocks noGrp="1"/>
          </p:cNvSpPr>
          <p:nvPr>
            <p:ph type="dt" idx="1"/>
          </p:nvPr>
        </p:nvSpPr>
        <p:spPr>
          <a:xfrm>
            <a:off x="5625495" y="0"/>
            <a:ext cx="4303607" cy="339725"/>
          </a:xfrm>
          <a:prstGeom prst="rect">
            <a:avLst/>
          </a:prstGeom>
        </p:spPr>
        <p:txBody>
          <a:bodyPr vert="horz" lIns="91440" tIns="45720" rIns="91440" bIns="45720" rtlCol="0"/>
          <a:lstStyle>
            <a:lvl1pPr algn="r">
              <a:defRPr sz="1200"/>
            </a:lvl1pPr>
          </a:lstStyle>
          <a:p>
            <a:fld id="{2DFF43CE-A4FA-43F5-992B-4CFE4632D628}" type="datetimeFigureOut">
              <a:rPr lang="sv-SE" smtClean="0"/>
            </a:fld>
            <a:endParaRPr lang="sv-SE"/>
          </a:p>
        </p:txBody>
      </p:sp>
      <p:sp>
        <p:nvSpPr>
          <p:cNvPr id="4" name="Slide Image Placeholder 3"/>
          <p:cNvSpPr>
            <a:spLocks noGrp="1" noRot="1" noChangeAspect="1"/>
          </p:cNvSpPr>
          <p:nvPr>
            <p:ph type="sldImg" idx="2"/>
          </p:nvPr>
        </p:nvSpPr>
        <p:spPr>
          <a:xfrm>
            <a:off x="3267075" y="509588"/>
            <a:ext cx="3397250" cy="2547937"/>
          </a:xfrm>
          <a:prstGeom prst="rect">
            <a:avLst/>
          </a:prstGeom>
          <a:noFill/>
          <a:ln w="12700">
            <a:solidFill>
              <a:prstClr val="black"/>
            </a:solidFill>
          </a:ln>
        </p:spPr>
        <p:txBody>
          <a:bodyPr vert="horz" lIns="91440" tIns="45720" rIns="91440" bIns="45720" rtlCol="0" anchor="ctr"/>
          <a:lstStyle/>
          <a:p>
            <a:endParaRPr lang="sv-SE"/>
          </a:p>
        </p:txBody>
      </p:sp>
      <p:sp>
        <p:nvSpPr>
          <p:cNvPr id="5" name="Notes Placeholder 4"/>
          <p:cNvSpPr>
            <a:spLocks noGrp="1"/>
          </p:cNvSpPr>
          <p:nvPr>
            <p:ph type="body" sz="quarter" idx="3"/>
          </p:nvPr>
        </p:nvSpPr>
        <p:spPr>
          <a:xfrm>
            <a:off x="993140" y="3227388"/>
            <a:ext cx="7945120" cy="3057525"/>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sv-SE"/>
          </a:p>
        </p:txBody>
      </p:sp>
      <p:sp>
        <p:nvSpPr>
          <p:cNvPr id="6" name="Footer Placeholder 5"/>
          <p:cNvSpPr>
            <a:spLocks noGrp="1"/>
          </p:cNvSpPr>
          <p:nvPr>
            <p:ph type="ftr" sz="quarter" idx="4"/>
          </p:nvPr>
        </p:nvSpPr>
        <p:spPr>
          <a:xfrm>
            <a:off x="0" y="6453596"/>
            <a:ext cx="4303607" cy="339725"/>
          </a:xfrm>
          <a:prstGeom prst="rect">
            <a:avLst/>
          </a:prstGeom>
        </p:spPr>
        <p:txBody>
          <a:bodyPr vert="horz" lIns="91440" tIns="45720" rIns="91440" bIns="45720" rtlCol="0" anchor="b"/>
          <a:lstStyle>
            <a:lvl1pPr algn="l">
              <a:defRPr sz="1200"/>
            </a:lvl1pPr>
          </a:lstStyle>
          <a:p>
            <a:endParaRPr lang="sv-SE"/>
          </a:p>
        </p:txBody>
      </p:sp>
      <p:sp>
        <p:nvSpPr>
          <p:cNvPr id="7" name="Slide Number Placeholder 6"/>
          <p:cNvSpPr>
            <a:spLocks noGrp="1"/>
          </p:cNvSpPr>
          <p:nvPr>
            <p:ph type="sldNum" sz="quarter" idx="5"/>
          </p:nvPr>
        </p:nvSpPr>
        <p:spPr>
          <a:xfrm>
            <a:off x="5625495" y="6453596"/>
            <a:ext cx="4303607" cy="339725"/>
          </a:xfrm>
          <a:prstGeom prst="rect">
            <a:avLst/>
          </a:prstGeom>
        </p:spPr>
        <p:txBody>
          <a:bodyPr vert="horz" lIns="91440" tIns="45720" rIns="91440" bIns="45720" rtlCol="0" anchor="b"/>
          <a:lstStyle>
            <a:lvl1pPr algn="r">
              <a:defRPr sz="1200"/>
            </a:lvl1pPr>
          </a:lstStyle>
          <a:p>
            <a:fld id="{C0BD2704-2F01-48C2-BEEE-46529420DBC9}" type="slidenum">
              <a:rPr lang="sv-SE" smtClean="0"/>
            </a:fld>
            <a:endParaRPr lang="sv-S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print">
            <a:lum/>
          </a:blip>
          <a:srcRect/>
          <a:stretch>
            <a:fillRect t="-3000" b="-3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FFFF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CD5D4D-C8FB-4E5D-A141-C1C1AA32DF76}" type="datetime1">
              <a:rPr lang="sv-SE" smtClean="0"/>
            </a:fld>
            <a:endParaRPr lang="sv-SE" dirty="0"/>
          </a:p>
        </p:txBody>
      </p:sp>
      <p:sp>
        <p:nvSpPr>
          <p:cNvPr id="5" name="Footer Placeholder 4"/>
          <p:cNvSpPr>
            <a:spLocks noGrp="1"/>
          </p:cNvSpPr>
          <p:nvPr>
            <p:ph type="ftr" sz="quarter" idx="11"/>
          </p:nvPr>
        </p:nvSpPr>
        <p:spPr/>
        <p:txBody>
          <a:bodyPr/>
          <a:lstStyle/>
          <a:p>
            <a:r>
              <a:rPr lang="sv-SE"/>
              <a:t>732A64</a:t>
            </a:r>
            <a:endParaRPr lang="sv-SE" dirty="0"/>
          </a:p>
        </p:txBody>
      </p:sp>
      <p:sp>
        <p:nvSpPr>
          <p:cNvPr id="6" name="Slide Number Placeholder 5"/>
          <p:cNvSpPr>
            <a:spLocks noGrp="1"/>
          </p:cNvSpPr>
          <p:nvPr>
            <p:ph type="sldNum" sz="quarter" idx="12"/>
          </p:nvPr>
        </p:nvSpPr>
        <p:spPr/>
        <p:txBody>
          <a:bodyPr/>
          <a:lstStyle/>
          <a:p>
            <a:fld id="{7B3CE592-3684-4165-AE4A-DA05B50B7994}" type="slidenum">
              <a:rPr lang="sv-SE" smtClean="0"/>
            </a:fld>
            <a:endParaRPr lang="sv-SE"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FBA84E13-2F0C-4A16-A3B7-AC8B5ECBFF88}" type="datetime1">
              <a:rPr lang="sv-SE" smtClean="0"/>
            </a:fld>
            <a:endParaRPr lang="sv-SE"/>
          </a:p>
        </p:txBody>
      </p:sp>
      <p:sp>
        <p:nvSpPr>
          <p:cNvPr id="5" name="Footer Placeholder 4"/>
          <p:cNvSpPr>
            <a:spLocks noGrp="1"/>
          </p:cNvSpPr>
          <p:nvPr>
            <p:ph type="ftr" sz="quarter" idx="11"/>
          </p:nvPr>
        </p:nvSpPr>
        <p:spPr/>
        <p:txBody>
          <a:bodyPr/>
          <a:lstStyle/>
          <a:p>
            <a:r>
              <a:rPr lang="sv-SE"/>
              <a:t>732A64</a:t>
            </a:r>
            <a:endParaRPr lang="sv-SE" dirty="0"/>
          </a:p>
        </p:txBody>
      </p:sp>
      <p:sp>
        <p:nvSpPr>
          <p:cNvPr id="6" name="Slide Number Placeholder 5"/>
          <p:cNvSpPr>
            <a:spLocks noGrp="1"/>
          </p:cNvSpPr>
          <p:nvPr>
            <p:ph type="sldNum" sz="quarter" idx="12"/>
          </p:nvPr>
        </p:nvSpPr>
        <p:spPr/>
        <p:txBody>
          <a:bodyPr/>
          <a:lstStyle/>
          <a:p>
            <a:fld id="{7B3CE592-3684-4165-AE4A-DA05B50B7994}" type="slidenum">
              <a:rPr lang="sv-SE" smtClean="0"/>
            </a:fld>
            <a:endParaRPr lang="sv-S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E566364-57D0-4694-A3D2-0E0DF123629C}" type="datetime1">
              <a:rPr lang="sv-SE" smtClean="0"/>
            </a:fld>
            <a:endParaRPr lang="sv-SE"/>
          </a:p>
        </p:txBody>
      </p:sp>
      <p:sp>
        <p:nvSpPr>
          <p:cNvPr id="5" name="Footer Placeholder 4"/>
          <p:cNvSpPr>
            <a:spLocks noGrp="1"/>
          </p:cNvSpPr>
          <p:nvPr>
            <p:ph type="ftr" sz="quarter" idx="11"/>
          </p:nvPr>
        </p:nvSpPr>
        <p:spPr/>
        <p:txBody>
          <a:bodyPr/>
          <a:lstStyle/>
          <a:p>
            <a:r>
              <a:rPr lang="sv-SE"/>
              <a:t>732A64</a:t>
            </a:r>
            <a:endParaRPr lang="sv-SE"/>
          </a:p>
        </p:txBody>
      </p:sp>
      <p:sp>
        <p:nvSpPr>
          <p:cNvPr id="6" name="Slide Number Placeholder 5"/>
          <p:cNvSpPr>
            <a:spLocks noGrp="1"/>
          </p:cNvSpPr>
          <p:nvPr>
            <p:ph type="sldNum" sz="quarter" idx="12"/>
          </p:nvPr>
        </p:nvSpPr>
        <p:spPr/>
        <p:txBody>
          <a:bodyPr/>
          <a:lstStyle/>
          <a:p>
            <a:fld id="{7B3CE592-3684-4165-AE4A-DA05B50B7994}" type="slidenum">
              <a:rPr lang="sv-SE" smtClean="0"/>
            </a:fld>
            <a:endParaRPr lang="sv-S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8B759C31-B360-4CD5-B5FA-5A57A332203E}" type="datetime1">
              <a:rPr lang="sv-SE" smtClean="0"/>
            </a:fld>
            <a:endParaRPr lang="sv-SE"/>
          </a:p>
        </p:txBody>
      </p:sp>
      <p:sp>
        <p:nvSpPr>
          <p:cNvPr id="6" name="Footer Placeholder 5"/>
          <p:cNvSpPr>
            <a:spLocks noGrp="1"/>
          </p:cNvSpPr>
          <p:nvPr>
            <p:ph type="ftr" sz="quarter" idx="11"/>
          </p:nvPr>
        </p:nvSpPr>
        <p:spPr/>
        <p:txBody>
          <a:bodyPr/>
          <a:lstStyle/>
          <a:p>
            <a:r>
              <a:rPr lang="sv-SE"/>
              <a:t>732A64</a:t>
            </a:r>
            <a:endParaRPr lang="sv-SE"/>
          </a:p>
        </p:txBody>
      </p:sp>
      <p:sp>
        <p:nvSpPr>
          <p:cNvPr id="7" name="Slide Number Placeholder 6"/>
          <p:cNvSpPr>
            <a:spLocks noGrp="1"/>
          </p:cNvSpPr>
          <p:nvPr>
            <p:ph type="sldNum" sz="quarter" idx="12"/>
          </p:nvPr>
        </p:nvSpPr>
        <p:spPr/>
        <p:txBody>
          <a:bodyPr/>
          <a:lstStyle/>
          <a:p>
            <a:fld id="{7B3CE592-3684-4165-AE4A-DA05B50B7994}" type="slidenum">
              <a:rPr lang="sv-SE" smtClean="0"/>
            </a:fld>
            <a:endParaRPr lang="sv-S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A9A474A-9DCA-4FD8-ADC0-A6DBCDE99AF6}" type="datetime1">
              <a:rPr lang="sv-SE" smtClean="0"/>
            </a:fld>
            <a:endParaRPr lang="sv-SE"/>
          </a:p>
        </p:txBody>
      </p:sp>
      <p:sp>
        <p:nvSpPr>
          <p:cNvPr id="8" name="Footer Placeholder 7"/>
          <p:cNvSpPr>
            <a:spLocks noGrp="1"/>
          </p:cNvSpPr>
          <p:nvPr>
            <p:ph type="ftr" sz="quarter" idx="11"/>
          </p:nvPr>
        </p:nvSpPr>
        <p:spPr/>
        <p:txBody>
          <a:bodyPr/>
          <a:lstStyle/>
          <a:p>
            <a:r>
              <a:rPr lang="sv-SE"/>
              <a:t>732A64</a:t>
            </a:r>
            <a:endParaRPr lang="sv-SE"/>
          </a:p>
        </p:txBody>
      </p:sp>
      <p:sp>
        <p:nvSpPr>
          <p:cNvPr id="9" name="Slide Number Placeholder 8"/>
          <p:cNvSpPr>
            <a:spLocks noGrp="1"/>
          </p:cNvSpPr>
          <p:nvPr>
            <p:ph type="sldNum" sz="quarter" idx="12"/>
          </p:nvPr>
        </p:nvSpPr>
        <p:spPr/>
        <p:txBody>
          <a:bodyPr/>
          <a:lstStyle/>
          <a:p>
            <a:fld id="{7B3CE592-3684-4165-AE4A-DA05B50B7994}" type="slidenum">
              <a:rPr lang="sv-SE" smtClean="0"/>
            </a:fld>
            <a:endParaRPr lang="sv-S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37C4F81E-531C-4302-A46E-2C9BD687881A}" type="datetime1">
              <a:rPr lang="sv-SE" smtClean="0"/>
            </a:fld>
            <a:endParaRPr lang="sv-SE"/>
          </a:p>
        </p:txBody>
      </p:sp>
      <p:sp>
        <p:nvSpPr>
          <p:cNvPr id="4" name="Footer Placeholder 3"/>
          <p:cNvSpPr>
            <a:spLocks noGrp="1"/>
          </p:cNvSpPr>
          <p:nvPr>
            <p:ph type="ftr" sz="quarter" idx="11"/>
          </p:nvPr>
        </p:nvSpPr>
        <p:spPr/>
        <p:txBody>
          <a:bodyPr/>
          <a:lstStyle/>
          <a:p>
            <a:r>
              <a:rPr lang="sv-SE"/>
              <a:t>732A64</a:t>
            </a:r>
            <a:endParaRPr lang="sv-SE"/>
          </a:p>
        </p:txBody>
      </p:sp>
      <p:sp>
        <p:nvSpPr>
          <p:cNvPr id="5" name="Slide Number Placeholder 4"/>
          <p:cNvSpPr>
            <a:spLocks noGrp="1"/>
          </p:cNvSpPr>
          <p:nvPr>
            <p:ph type="sldNum" sz="quarter" idx="12"/>
          </p:nvPr>
        </p:nvSpPr>
        <p:spPr/>
        <p:txBody>
          <a:bodyPr/>
          <a:lstStyle/>
          <a:p>
            <a:fld id="{7B3CE592-3684-4165-AE4A-DA05B50B7994}" type="slidenum">
              <a:rPr lang="sv-SE" smtClean="0"/>
            </a:fld>
            <a:endParaRPr lang="sv-S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037515-E598-44DF-A267-10160CCDB5AF}" type="datetime1">
              <a:rPr lang="sv-SE" smtClean="0"/>
            </a:fld>
            <a:endParaRPr lang="sv-SE"/>
          </a:p>
        </p:txBody>
      </p:sp>
      <p:sp>
        <p:nvSpPr>
          <p:cNvPr id="3" name="Footer Placeholder 2"/>
          <p:cNvSpPr>
            <a:spLocks noGrp="1"/>
          </p:cNvSpPr>
          <p:nvPr>
            <p:ph type="ftr" sz="quarter" idx="11"/>
          </p:nvPr>
        </p:nvSpPr>
        <p:spPr/>
        <p:txBody>
          <a:bodyPr/>
          <a:lstStyle/>
          <a:p>
            <a:r>
              <a:rPr lang="sv-SE"/>
              <a:t>732A64</a:t>
            </a:r>
            <a:endParaRPr lang="sv-SE"/>
          </a:p>
        </p:txBody>
      </p:sp>
      <p:sp>
        <p:nvSpPr>
          <p:cNvPr id="4" name="Slide Number Placeholder 3"/>
          <p:cNvSpPr>
            <a:spLocks noGrp="1"/>
          </p:cNvSpPr>
          <p:nvPr>
            <p:ph type="sldNum" sz="quarter" idx="12"/>
          </p:nvPr>
        </p:nvSpPr>
        <p:spPr/>
        <p:txBody>
          <a:bodyPr/>
          <a:lstStyle/>
          <a:p>
            <a:fld id="{7B3CE592-3684-4165-AE4A-DA05B50B7994}" type="slidenum">
              <a:rPr lang="sv-SE" smtClean="0"/>
            </a:fld>
            <a:endParaRPr lang="sv-S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4A68F65-F5E1-4A4B-8BF5-02048D29935A}" type="datetime1">
              <a:rPr lang="sv-SE" smtClean="0"/>
            </a:fld>
            <a:endParaRPr lang="sv-SE"/>
          </a:p>
        </p:txBody>
      </p:sp>
      <p:sp>
        <p:nvSpPr>
          <p:cNvPr id="6" name="Footer Placeholder 5"/>
          <p:cNvSpPr>
            <a:spLocks noGrp="1"/>
          </p:cNvSpPr>
          <p:nvPr>
            <p:ph type="ftr" sz="quarter" idx="11"/>
          </p:nvPr>
        </p:nvSpPr>
        <p:spPr/>
        <p:txBody>
          <a:bodyPr/>
          <a:lstStyle/>
          <a:p>
            <a:r>
              <a:rPr lang="sv-SE"/>
              <a:t>732A64</a:t>
            </a:r>
            <a:endParaRPr lang="sv-SE"/>
          </a:p>
        </p:txBody>
      </p:sp>
      <p:sp>
        <p:nvSpPr>
          <p:cNvPr id="7" name="Slide Number Placeholder 6"/>
          <p:cNvSpPr>
            <a:spLocks noGrp="1"/>
          </p:cNvSpPr>
          <p:nvPr>
            <p:ph type="sldNum" sz="quarter" idx="12"/>
          </p:nvPr>
        </p:nvSpPr>
        <p:spPr/>
        <p:txBody>
          <a:bodyPr/>
          <a:lstStyle/>
          <a:p>
            <a:fld id="{7B3CE592-3684-4165-AE4A-DA05B50B7994}" type="slidenum">
              <a:rPr lang="sv-SE" smtClean="0"/>
            </a:fld>
            <a:endParaRPr lang="sv-S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0D30A74-0FCC-4F8A-BD16-A98983C4E899}" type="datetime1">
              <a:rPr lang="sv-SE" smtClean="0"/>
            </a:fld>
            <a:endParaRPr lang="sv-SE"/>
          </a:p>
        </p:txBody>
      </p:sp>
      <p:sp>
        <p:nvSpPr>
          <p:cNvPr id="6" name="Footer Placeholder 5"/>
          <p:cNvSpPr>
            <a:spLocks noGrp="1"/>
          </p:cNvSpPr>
          <p:nvPr>
            <p:ph type="ftr" sz="quarter" idx="11"/>
          </p:nvPr>
        </p:nvSpPr>
        <p:spPr/>
        <p:txBody>
          <a:bodyPr/>
          <a:lstStyle/>
          <a:p>
            <a:r>
              <a:rPr lang="sv-SE"/>
              <a:t>732A64</a:t>
            </a:r>
            <a:endParaRPr lang="sv-SE"/>
          </a:p>
        </p:txBody>
      </p:sp>
      <p:sp>
        <p:nvSpPr>
          <p:cNvPr id="7" name="Slide Number Placeholder 6"/>
          <p:cNvSpPr>
            <a:spLocks noGrp="1"/>
          </p:cNvSpPr>
          <p:nvPr>
            <p:ph type="sldNum" sz="quarter" idx="12"/>
          </p:nvPr>
        </p:nvSpPr>
        <p:spPr/>
        <p:txBody>
          <a:bodyPr/>
          <a:lstStyle/>
          <a:p>
            <a:fld id="{7B3CE592-3684-4165-AE4A-DA05B50B7994}" type="slidenum">
              <a:rPr lang="sv-SE" smtClean="0"/>
            </a:fld>
            <a:endParaRPr lang="sv-S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0F06F2D-FC94-4CEB-B446-CB9578B914A5}" type="datetime1">
              <a:rPr lang="sv-SE" smtClean="0"/>
            </a:fld>
            <a:endParaRPr lang="sv-SE"/>
          </a:p>
        </p:txBody>
      </p:sp>
      <p:sp>
        <p:nvSpPr>
          <p:cNvPr id="5" name="Footer Placeholder 4"/>
          <p:cNvSpPr>
            <a:spLocks noGrp="1"/>
          </p:cNvSpPr>
          <p:nvPr>
            <p:ph type="ftr" sz="quarter" idx="11"/>
          </p:nvPr>
        </p:nvSpPr>
        <p:spPr/>
        <p:txBody>
          <a:bodyPr/>
          <a:lstStyle/>
          <a:p>
            <a:r>
              <a:rPr lang="sv-SE"/>
              <a:t>732A64</a:t>
            </a:r>
            <a:endParaRPr lang="sv-SE"/>
          </a:p>
        </p:txBody>
      </p:sp>
      <p:sp>
        <p:nvSpPr>
          <p:cNvPr id="6" name="Slide Number Placeholder 5"/>
          <p:cNvSpPr>
            <a:spLocks noGrp="1"/>
          </p:cNvSpPr>
          <p:nvPr>
            <p:ph type="sldNum" sz="quarter" idx="12"/>
          </p:nvPr>
        </p:nvSpPr>
        <p:spPr/>
        <p:txBody>
          <a:bodyPr/>
          <a:lstStyle/>
          <a:p>
            <a:fld id="{7B3CE592-3684-4165-AE4A-DA05B50B7994}" type="slidenum">
              <a:rPr lang="sv-SE" smtClean="0"/>
            </a:fld>
            <a:endParaRPr lang="sv-S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CF63EE4-1BDB-4F81-B61B-E7F616DFB823}" type="datetime1">
              <a:rPr lang="sv-SE" smtClean="0"/>
            </a:fld>
            <a:endParaRPr lang="sv-SE"/>
          </a:p>
        </p:txBody>
      </p:sp>
      <p:sp>
        <p:nvSpPr>
          <p:cNvPr id="5" name="Footer Placeholder 4"/>
          <p:cNvSpPr>
            <a:spLocks noGrp="1"/>
          </p:cNvSpPr>
          <p:nvPr>
            <p:ph type="ftr" sz="quarter" idx="11"/>
          </p:nvPr>
        </p:nvSpPr>
        <p:spPr/>
        <p:txBody>
          <a:bodyPr/>
          <a:lstStyle/>
          <a:p>
            <a:r>
              <a:rPr lang="sv-SE"/>
              <a:t>732A64</a:t>
            </a:r>
            <a:endParaRPr lang="sv-SE"/>
          </a:p>
        </p:txBody>
      </p:sp>
      <p:sp>
        <p:nvSpPr>
          <p:cNvPr id="6" name="Slide Number Placeholder 5"/>
          <p:cNvSpPr>
            <a:spLocks noGrp="1"/>
          </p:cNvSpPr>
          <p:nvPr>
            <p:ph type="sldNum" sz="quarter" idx="12"/>
          </p:nvPr>
        </p:nvSpPr>
        <p:spPr/>
        <p:txBody>
          <a:bodyPr/>
          <a:lstStyle/>
          <a:p>
            <a:fld id="{7B3CE592-3684-4165-AE4A-DA05B50B7994}" type="slidenum">
              <a:rPr lang="sv-SE" smtClean="0"/>
            </a:fld>
            <a:endParaRPr lang="sv-S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3568" y="260648"/>
            <a:ext cx="7772400" cy="1143000"/>
          </a:xfrm>
        </p:spPr>
        <p:txBody>
          <a:bodyPr/>
          <a:lstStyle/>
          <a:p>
            <a:r>
              <a:rPr lang="en-US"/>
              <a:t>Click to edit Master title style</a:t>
            </a:r>
            <a:endParaRPr lang="sv-SE"/>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sv-SE"/>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sv-SE"/>
          </a:p>
        </p:txBody>
      </p:sp>
      <p:sp>
        <p:nvSpPr>
          <p:cNvPr id="5" name="Content Placeholder 4"/>
          <p:cNvSpPr>
            <a:spLocks noGrp="1"/>
          </p:cNvSpPr>
          <p:nvPr>
            <p:ph sz="quarter" idx="3"/>
          </p:nvPr>
        </p:nvSpPr>
        <p:spPr>
          <a:xfrm>
            <a:off x="4648200" y="4114800"/>
            <a:ext cx="3810000" cy="1981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sv-SE"/>
          </a:p>
        </p:txBody>
      </p:sp>
      <p:sp>
        <p:nvSpPr>
          <p:cNvPr id="6" name="Rectangle 4"/>
          <p:cNvSpPr>
            <a:spLocks noGrp="1" noChangeArrowheads="1"/>
          </p:cNvSpPr>
          <p:nvPr>
            <p:ph type="dt" sz="half" idx="10"/>
          </p:nvPr>
        </p:nvSpPr>
        <p:spPr/>
        <p:txBody>
          <a:bodyPr/>
          <a:lstStyle>
            <a:lvl1pPr>
              <a:defRPr/>
            </a:lvl1pPr>
          </a:lstStyle>
          <a:p>
            <a:fld id="{9096C3CD-5C0E-420B-9C5B-4C4F5A61E6C8}" type="datetime1">
              <a:rPr lang="sv-SE" smtClean="0"/>
            </a:fld>
            <a:endParaRPr lang="sv-SE"/>
          </a:p>
        </p:txBody>
      </p:sp>
      <p:sp>
        <p:nvSpPr>
          <p:cNvPr id="7" name="Rectangle 5"/>
          <p:cNvSpPr>
            <a:spLocks noGrp="1" noChangeArrowheads="1"/>
          </p:cNvSpPr>
          <p:nvPr>
            <p:ph type="ftr" sz="quarter" idx="11"/>
          </p:nvPr>
        </p:nvSpPr>
        <p:spPr/>
        <p:txBody>
          <a:bodyPr/>
          <a:lstStyle>
            <a:lvl1pPr>
              <a:defRPr/>
            </a:lvl1pPr>
          </a:lstStyle>
          <a:p>
            <a:r>
              <a:rPr lang="sv-SE"/>
              <a:t>732A64</a:t>
            </a:r>
            <a:endParaRPr lang="sv-SE" dirty="0"/>
          </a:p>
        </p:txBody>
      </p:sp>
      <p:sp>
        <p:nvSpPr>
          <p:cNvPr id="8" name="Rectangle 6"/>
          <p:cNvSpPr>
            <a:spLocks noGrp="1" noChangeArrowheads="1"/>
          </p:cNvSpPr>
          <p:nvPr>
            <p:ph type="sldNum" sz="quarter" idx="12"/>
          </p:nvPr>
        </p:nvSpPr>
        <p:spPr/>
        <p:txBody>
          <a:bodyPr/>
          <a:lstStyle>
            <a:lvl1pPr>
              <a:defRPr/>
            </a:lvl1pPr>
          </a:lstStyle>
          <a:p>
            <a:fld id="{7B3CE592-3684-4165-AE4A-DA05B50B7994}" type="slidenum">
              <a:rPr lang="sv-SE" smtClean="0"/>
            </a:fld>
            <a:endParaRPr lang="sv-S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3568" y="188640"/>
            <a:ext cx="7772400" cy="1143000"/>
          </a:xfrm>
        </p:spPr>
        <p:txBody>
          <a:bodyPr/>
          <a:lstStyle/>
          <a:p>
            <a:r>
              <a:rPr lang="en-US"/>
              <a:t>Click to edit Master title style</a:t>
            </a:r>
            <a:endParaRPr lang="sv-SE"/>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sv-SE"/>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sv-SE"/>
          </a:p>
        </p:txBody>
      </p:sp>
      <p:sp>
        <p:nvSpPr>
          <p:cNvPr id="5" name="Rectangle 4"/>
          <p:cNvSpPr>
            <a:spLocks noGrp="1" noChangeArrowheads="1"/>
          </p:cNvSpPr>
          <p:nvPr>
            <p:ph type="dt" sz="half" idx="10"/>
          </p:nvPr>
        </p:nvSpPr>
        <p:spPr/>
        <p:txBody>
          <a:bodyPr/>
          <a:lstStyle>
            <a:lvl1pPr>
              <a:defRPr/>
            </a:lvl1pPr>
          </a:lstStyle>
          <a:p>
            <a:fld id="{92FD1669-4717-4459-9B98-5278F838F5B9}" type="datetime1">
              <a:rPr lang="sv-SE" smtClean="0"/>
            </a:fld>
            <a:endParaRPr lang="sv-SE"/>
          </a:p>
        </p:txBody>
      </p:sp>
      <p:sp>
        <p:nvSpPr>
          <p:cNvPr id="6" name="Rectangle 5"/>
          <p:cNvSpPr>
            <a:spLocks noGrp="1" noChangeArrowheads="1"/>
          </p:cNvSpPr>
          <p:nvPr>
            <p:ph type="ftr" sz="quarter" idx="11"/>
          </p:nvPr>
        </p:nvSpPr>
        <p:spPr/>
        <p:txBody>
          <a:bodyPr/>
          <a:lstStyle>
            <a:lvl1pPr>
              <a:defRPr/>
            </a:lvl1pPr>
          </a:lstStyle>
          <a:p>
            <a:r>
              <a:rPr lang="sv-SE"/>
              <a:t>732A64</a:t>
            </a:r>
            <a:endParaRPr lang="sv-SE" dirty="0"/>
          </a:p>
        </p:txBody>
      </p:sp>
      <p:sp>
        <p:nvSpPr>
          <p:cNvPr id="7" name="Rectangle 6"/>
          <p:cNvSpPr>
            <a:spLocks noGrp="1" noChangeArrowheads="1"/>
          </p:cNvSpPr>
          <p:nvPr>
            <p:ph type="sldNum" sz="quarter" idx="12"/>
          </p:nvPr>
        </p:nvSpPr>
        <p:spPr/>
        <p:txBody>
          <a:bodyPr/>
          <a:lstStyle>
            <a:lvl1pPr>
              <a:defRPr/>
            </a:lvl1pPr>
          </a:lstStyle>
          <a:p>
            <a:fld id="{7B3CE592-3684-4165-AE4A-DA05B50B7994}" type="slidenum">
              <a:rPr lang="sv-SE" smtClean="0"/>
            </a:fld>
            <a:endParaRPr lang="sv-S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t="-3000" b="-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A362A4-11F6-4465-98DF-333EBD596686}" type="datetime1">
              <a:rPr lang="sv-SE" smtClean="0"/>
            </a:fld>
            <a:endParaRPr lang="sv-S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732A64</a:t>
            </a:r>
            <a:endParaRPr lang="sv-SE"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3CE592-3684-4165-AE4A-DA05B50B7994}" type="slidenum">
              <a:rPr lang="sv-SE" smtClean="0"/>
            </a:fld>
            <a:endParaRPr lang="sv-S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dt="0"/>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www.ep.liu.se/exjobb/index.en.asp" TargetMode="External"/><Relationship Id="rId1" Type="http://schemas.openxmlformats.org/officeDocument/2006/relationships/hyperlink" Target="https://ep.liu.se/publicera-exjobb.aspx"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sz="3200">
                <a:sym typeface="+mn-ea"/>
              </a:rPr>
              <a:t>Biologically Informed Graph Neural Networks</a:t>
            </a:r>
            <a:br>
              <a:rPr sz="3200">
                <a:sym typeface="+mn-ea"/>
              </a:rPr>
            </a:br>
            <a:r>
              <a:rPr sz="3200">
                <a:sym typeface="+mn-ea"/>
              </a:rPr>
              <a:t>for Perturbation Effect Prediction</a:t>
            </a:r>
            <a:endParaRPr lang="en-US" sz="3200" dirty="0"/>
          </a:p>
        </p:txBody>
      </p:sp>
      <p:sp>
        <p:nvSpPr>
          <p:cNvPr id="3" name="Underrubrik 2"/>
          <p:cNvSpPr>
            <a:spLocks noGrp="1"/>
          </p:cNvSpPr>
          <p:nvPr>
            <p:ph type="subTitle" idx="1"/>
          </p:nvPr>
        </p:nvSpPr>
        <p:spPr/>
        <p:txBody>
          <a:bodyPr>
            <a:normAutofit/>
          </a:bodyPr>
          <a:lstStyle/>
          <a:p>
            <a:r>
              <a:rPr lang="sv-SE" sz="1800" dirty="0" err="1"/>
              <a:t>Statistics</a:t>
            </a:r>
            <a:r>
              <a:rPr lang="sv-SE" sz="1800" dirty="0"/>
              <a:t> and </a:t>
            </a:r>
            <a:r>
              <a:rPr lang="sv-SE" sz="1800" dirty="0" err="1"/>
              <a:t>Machine</a:t>
            </a:r>
            <a:r>
              <a:rPr lang="sv-SE" sz="1800" dirty="0"/>
              <a:t> Learning</a:t>
            </a:r>
            <a:endParaRPr lang="sv-SE" sz="1800" dirty="0"/>
          </a:p>
          <a:p>
            <a:r>
              <a:rPr lang="sv-SE" sz="1800" dirty="0" err="1"/>
              <a:t>Deparment</a:t>
            </a:r>
            <a:r>
              <a:rPr lang="sv-SE" sz="1800" dirty="0"/>
              <a:t> </a:t>
            </a:r>
            <a:r>
              <a:rPr lang="sv-SE" sz="1800" dirty="0" err="1"/>
              <a:t>of</a:t>
            </a:r>
            <a:r>
              <a:rPr lang="sv-SE" sz="1800" dirty="0"/>
              <a:t> Computer and Information Science</a:t>
            </a:r>
            <a:endParaRPr lang="sv-SE" sz="1800" dirty="0"/>
          </a:p>
          <a:p>
            <a:r>
              <a:rPr lang="sv-SE" sz="1800" dirty="0"/>
              <a:t>Linköping University</a:t>
            </a:r>
            <a:endParaRPr lang="sv-SE" sz="1800" dirty="0"/>
          </a:p>
        </p:txBody>
      </p:sp>
      <p:sp>
        <p:nvSpPr>
          <p:cNvPr id="5" name="Footer Placeholder 4"/>
          <p:cNvSpPr>
            <a:spLocks noGrp="1"/>
          </p:cNvSpPr>
          <p:nvPr>
            <p:ph type="ftr" sz="quarter" idx="11"/>
          </p:nvPr>
        </p:nvSpPr>
        <p:spPr/>
        <p:txBody>
          <a:bodyPr/>
          <a:lstStyle/>
          <a:p>
            <a:r>
              <a:rPr lang="sv-SE"/>
              <a:t>732A64</a:t>
            </a:r>
            <a:endParaRPr lang="sv-SE"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BackG</a:t>
            </a:r>
            <a:r>
              <a:rPr lang="en-US" altLang="zh-CN"/>
              <a:t>round</a:t>
            </a:r>
            <a:endParaRPr lang="en-US" altLang="zh-CN"/>
          </a:p>
        </p:txBody>
      </p:sp>
      <p:sp>
        <p:nvSpPr>
          <p:cNvPr id="3" name="内容占位符 2"/>
          <p:cNvSpPr>
            <a:spLocks noGrp="1"/>
          </p:cNvSpPr>
          <p:nvPr>
            <p:ph idx="1"/>
          </p:nvPr>
        </p:nvSpPr>
        <p:spPr/>
        <p:txBody>
          <a:bodyPr/>
          <a:p>
            <a:r>
              <a:rPr lang="en-US" altLang="zh-CN"/>
              <a:t>The  drug development is difficult because the </a:t>
            </a:r>
            <a:r>
              <a:rPr lang="en-US" altLang="zh-CN" b="1"/>
              <a:t>inherent complexity</a:t>
            </a:r>
            <a:r>
              <a:rPr lang="en-US" altLang="zh-CN"/>
              <a:t> and incomplete understanding of the biological systems that are being targeted. If </a:t>
            </a:r>
            <a:r>
              <a:rPr lang="en-US" altLang="zh-CN" b="1"/>
              <a:t>reliable hypotheses</a:t>
            </a:r>
            <a:r>
              <a:rPr lang="en-US" altLang="zh-CN"/>
              <a:t> of the mechanisms of action of potential drug targets can be developed and tested.</a:t>
            </a:r>
            <a:endParaRPr lang="en-US" altLang="zh-CN"/>
          </a:p>
          <a:p>
            <a:r>
              <a:rPr lang="en-US" altLang="zh-CN"/>
              <a:t>Our RFA-GNN network is predicting </a:t>
            </a:r>
            <a:r>
              <a:rPr lang="en-US" altLang="zh-CN" b="1"/>
              <a:t>systemic response prediction</a:t>
            </a:r>
            <a:r>
              <a:rPr lang="en-US" altLang="zh-CN"/>
              <a:t> and explanation by ploting the </a:t>
            </a:r>
            <a:r>
              <a:rPr lang="en-US" altLang="zh-CN" b="1"/>
              <a:t>causal chain</a:t>
            </a:r>
            <a:r>
              <a:rPr lang="en-US" altLang="zh-CN"/>
              <a:t> diagram</a:t>
            </a:r>
            <a:endParaRPr lang="en-US" altLang="zh-CN"/>
          </a:p>
        </p:txBody>
      </p:sp>
      <p:sp>
        <p:nvSpPr>
          <p:cNvPr id="4" name="页脚占位符 3"/>
          <p:cNvSpPr>
            <a:spLocks noGrp="1"/>
          </p:cNvSpPr>
          <p:nvPr>
            <p:ph type="ftr" sz="quarter" idx="11"/>
          </p:nvPr>
        </p:nvSpPr>
        <p:spPr/>
        <p:txBody>
          <a:bodyPr/>
          <a:p>
            <a:r>
              <a:rPr lang="sv-SE"/>
              <a:t>732A64</a:t>
            </a:r>
            <a:endParaRPr lang="sv-SE" dirty="0"/>
          </a:p>
        </p:txBody>
      </p:sp>
      <p:sp>
        <p:nvSpPr>
          <p:cNvPr id="5" name="文本框 4"/>
          <p:cNvSpPr txBox="1"/>
          <p:nvPr/>
        </p:nvSpPr>
        <p:spPr>
          <a:xfrm>
            <a:off x="3119755" y="1193165"/>
            <a:ext cx="3048000" cy="368300"/>
          </a:xfrm>
          <a:prstGeom prst="rect">
            <a:avLst/>
          </a:prstGeom>
          <a:noFill/>
        </p:spPr>
        <p:txBody>
          <a:bodyPr wrap="square" rtlCol="0">
            <a:spAutoFit/>
          </a:bodyPr>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Research Questions</a:t>
            </a:r>
            <a:endParaRPr lang="en-US" altLang="zh-CN"/>
          </a:p>
        </p:txBody>
      </p:sp>
      <p:sp>
        <p:nvSpPr>
          <p:cNvPr id="3" name="内容占位符 2"/>
          <p:cNvSpPr>
            <a:spLocks noGrp="1"/>
          </p:cNvSpPr>
          <p:nvPr>
            <p:ph idx="1"/>
          </p:nvPr>
        </p:nvSpPr>
        <p:spPr/>
        <p:txBody>
          <a:bodyPr>
            <a:normAutofit lnSpcReduction="10000"/>
          </a:bodyPr>
          <a:p>
            <a:pPr marL="0" indent="0">
              <a:buNone/>
            </a:pPr>
            <a:r>
              <a:rPr lang="en-US" altLang="zh-CN" sz="2400"/>
              <a:t>• Which GNN models are most appropriate for predicting drug perturbation effects from gene expression data and information about drug targets?  I purose to compare with GAT</a:t>
            </a:r>
            <a:r>
              <a:rPr lang="zh-CN" altLang="en-US" sz="2400"/>
              <a:t>，</a:t>
            </a:r>
            <a:r>
              <a:rPr lang="en-US" altLang="zh-CN" sz="2400"/>
              <a:t>APPNP</a:t>
            </a:r>
            <a:r>
              <a:rPr lang="zh-CN" altLang="en-US" sz="2400"/>
              <a:t>，</a:t>
            </a:r>
            <a:r>
              <a:rPr lang="en-US" altLang="zh-CN" sz="2400"/>
              <a:t>DiGCN, but I am sure about this </a:t>
            </a:r>
            <a:endParaRPr lang="en-US" altLang="zh-CN" sz="2400"/>
          </a:p>
          <a:p>
            <a:pPr marL="0" indent="0">
              <a:buNone/>
            </a:pPr>
            <a:r>
              <a:rPr lang="en-US" altLang="zh-CN" sz="2400">
                <a:sym typeface="+mn-ea"/>
              </a:rPr>
              <a:t>• </a:t>
            </a:r>
            <a:r>
              <a:rPr lang="en-US" altLang="zh-CN" sz="2400"/>
              <a:t>How accurately can GNN models predict the perturbation effects for new samples and for unseen drugs？</a:t>
            </a:r>
            <a:endParaRPr lang="en-US" altLang="zh-CN" sz="2400"/>
          </a:p>
          <a:p>
            <a:pPr marL="0" algn="l">
              <a:buClrTx/>
              <a:buSzTx/>
              <a:buNone/>
            </a:pPr>
            <a:r>
              <a:rPr lang="en-US" altLang="zh-CN" sz="2400">
                <a:sym typeface="+mn-ea"/>
              </a:rPr>
              <a:t>• </a:t>
            </a:r>
            <a:r>
              <a:rPr lang="en-US" altLang="zh-CN" sz="2400"/>
              <a:t>How much do predictions obtained through the GNN models differ from predictions of some published ML models that only use gene expressions but not the network structure</a:t>
            </a:r>
            <a:r>
              <a:rPr lang="zh-CN" altLang="en-US" sz="2400"/>
              <a:t>，</a:t>
            </a:r>
            <a:r>
              <a:rPr lang="en-US" altLang="zh-CN" sz="2400"/>
              <a:t>for example DEEPCOP , Dr.VAE (Generative Models)</a:t>
            </a:r>
            <a:endParaRPr lang="en-US" altLang="zh-CN" sz="2400"/>
          </a:p>
        </p:txBody>
      </p:sp>
      <p:sp>
        <p:nvSpPr>
          <p:cNvPr id="4" name="页脚占位符 3"/>
          <p:cNvSpPr>
            <a:spLocks noGrp="1"/>
          </p:cNvSpPr>
          <p:nvPr>
            <p:ph type="ftr" sz="quarter" idx="11"/>
          </p:nvPr>
        </p:nvSpPr>
        <p:spPr/>
        <p:txBody>
          <a:bodyPr/>
          <a:p>
            <a:r>
              <a:rPr lang="sv-SE"/>
              <a:t>732A64</a:t>
            </a:r>
            <a:endParaRPr lang="sv-SE"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600" dirty="0">
                <a:sym typeface="+mn-ea"/>
              </a:rPr>
              <a:t>Data description</a:t>
            </a:r>
            <a:endParaRPr lang="en-US" altLang="zh-CN" sz="3600" dirty="0"/>
          </a:p>
        </p:txBody>
      </p:sp>
      <p:sp>
        <p:nvSpPr>
          <p:cNvPr id="2" name="Content Placeholder 1"/>
          <p:cNvSpPr>
            <a:spLocks noGrp="1"/>
          </p:cNvSpPr>
          <p:nvPr>
            <p:ph idx="1"/>
          </p:nvPr>
        </p:nvSpPr>
        <p:spPr/>
        <p:txBody>
          <a:bodyPr>
            <a:normAutofit lnSpcReduction="20000"/>
          </a:bodyPr>
          <a:lstStyle/>
          <a:p>
            <a:r>
              <a:rPr lang="en-US" sz="2400" dirty="0"/>
              <a:t>Omnipath: C</a:t>
            </a:r>
            <a:r>
              <a:rPr lang="en-US" altLang="zh-CN" sz="2400" dirty="0"/>
              <a:t>onstructing a directed protein-protein interaction graph, which serves as the scaffold for signal propagation in our GNN model, Omnipath is very strict and careful for collecting data(Directed, Signed,Causal) , but large number of undirected datas is rejected by omnipath though they are directed and signed, so I purpose to use these datas, but it need the </a:t>
            </a:r>
            <a:r>
              <a:rPr lang="en-US" altLang="zh-CN" sz="2400" dirty="0"/>
              <a:t>somes modifications of GNN models, I am not  sure about this.</a:t>
            </a:r>
            <a:endParaRPr lang="en-US" altLang="zh-CN" sz="2400" dirty="0"/>
          </a:p>
          <a:p>
            <a:endParaRPr lang="en-US" altLang="zh-CN" sz="2400" dirty="0"/>
          </a:p>
          <a:p>
            <a:r>
              <a:rPr lang="en-US" altLang="zh-CN" sz="2400" dirty="0"/>
              <a:t>CAMP: ground truth, Which cell line was treated?, What drug was taken? </a:t>
            </a:r>
            <a:r>
              <a:rPr lang="en-US" altLang="zh-CN" sz="2400" dirty="0"/>
              <a:t>and What happened? </a:t>
            </a:r>
            <a:endParaRPr lang="en-US" altLang="zh-CN" sz="2400" dirty="0"/>
          </a:p>
        </p:txBody>
      </p:sp>
      <p:sp>
        <p:nvSpPr>
          <p:cNvPr id="3" name="Footer Placeholder 2"/>
          <p:cNvSpPr>
            <a:spLocks noGrp="1"/>
          </p:cNvSpPr>
          <p:nvPr>
            <p:ph type="ftr" sz="quarter" idx="11"/>
          </p:nvPr>
        </p:nvSpPr>
        <p:spPr/>
        <p:txBody>
          <a:bodyPr/>
          <a:lstStyle/>
          <a:p>
            <a:r>
              <a:rPr lang="sv-SE"/>
              <a:t>732A64</a:t>
            </a:r>
            <a:endParaRPr lang="sv-SE"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a:t>Master </a:t>
            </a:r>
            <a:r>
              <a:rPr lang="sv-SE" dirty="0" err="1"/>
              <a:t>thesis</a:t>
            </a:r>
            <a:endParaRPr lang="sv-SE" dirty="0"/>
          </a:p>
        </p:txBody>
      </p:sp>
      <p:sp>
        <p:nvSpPr>
          <p:cNvPr id="4" name="Platshållare för sidfot 3"/>
          <p:cNvSpPr>
            <a:spLocks noGrp="1"/>
          </p:cNvSpPr>
          <p:nvPr>
            <p:ph type="ftr" sz="quarter" idx="11"/>
          </p:nvPr>
        </p:nvSpPr>
        <p:spPr/>
        <p:txBody>
          <a:bodyPr/>
          <a:lstStyle/>
          <a:p>
            <a:r>
              <a:rPr lang="sv-SE"/>
              <a:t>732A64</a:t>
            </a:r>
            <a:endParaRPr lang="sv-SE" dirty="0"/>
          </a:p>
        </p:txBody>
      </p:sp>
      <p:graphicFrame>
        <p:nvGraphicFramePr>
          <p:cNvPr id="6" name="Table 5"/>
          <p:cNvGraphicFramePr>
            <a:graphicFrameLocks noGrp="1"/>
          </p:cNvGraphicFramePr>
          <p:nvPr/>
        </p:nvGraphicFramePr>
        <p:xfrm>
          <a:off x="116205" y="2576830"/>
          <a:ext cx="4157345" cy="3760470"/>
        </p:xfrm>
        <a:graphic>
          <a:graphicData uri="http://schemas.openxmlformats.org/drawingml/2006/table">
            <a:tbl>
              <a:tblPr firstRow="1" firstCol="1" bandRow="1">
                <a:tableStyleId>{5C22544A-7EE6-4342-B048-85BDC9FD1C3A}</a:tableStyleId>
              </a:tblPr>
              <a:tblGrid>
                <a:gridCol w="690880"/>
                <a:gridCol w="3466465"/>
              </a:tblGrid>
              <a:tr h="179070">
                <a:tc>
                  <a:txBody>
                    <a:bodyPr/>
                    <a:lstStyle/>
                    <a:p>
                      <a:pPr>
                        <a:lnSpc>
                          <a:spcPct val="107000"/>
                        </a:lnSpc>
                        <a:spcAft>
                          <a:spcPts val="800"/>
                        </a:spcAft>
                        <a:buNone/>
                      </a:pPr>
                      <a:endParaRPr lang="zh-CN" altLang="sv-SE" sz="1100" kern="100">
                        <a:effectLst/>
                        <a:latin typeface="Calibri" panose="020F0502020204030204" pitchFamily="34" charset="0"/>
                        <a:ea typeface="宋体"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b="1"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b="1" kern="100" dirty="0">
                        <a:effectLst/>
                      </a:endParaRPr>
                    </a:p>
                  </a:txBody>
                  <a:tcPr marL="0" marR="0" marT="0" marB="0" anchor="ctr"/>
                </a:tc>
              </a:tr>
              <a:tr h="179070">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b="1"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b="1" kern="100" dirty="0">
                        <a:effectLst/>
                      </a:endParaRPr>
                    </a:p>
                  </a:txBody>
                  <a:tcPr marL="0" marR="0" marT="0" marB="0" anchor="ctr"/>
                </a:tc>
              </a:tr>
              <a:tr h="179070">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b="1"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b="1"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b="1"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b="1" kern="100" dirty="0">
                        <a:effectLst/>
                      </a:endParaRPr>
                    </a:p>
                  </a:txBody>
                  <a:tcPr marL="0" marR="0" marT="0" marB="0" anchor="ctr"/>
                </a:tc>
              </a:tr>
              <a:tr h="179070">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79070">
                <a:tc>
                  <a:txBody>
                    <a:bodyPr/>
                    <a:lstStyle/>
                    <a:p>
                      <a:pPr>
                        <a:lnSpc>
                          <a:spcPct val="107000"/>
                        </a:lnSpc>
                        <a:spcAft>
                          <a:spcPts val="800"/>
                        </a:spcAft>
                        <a:buNone/>
                      </a:pP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a:t>Groups	</a:t>
            </a:r>
            <a:endParaRPr lang="sv-SE" dirty="0"/>
          </a:p>
        </p:txBody>
      </p:sp>
      <p:sp>
        <p:nvSpPr>
          <p:cNvPr id="3" name="Platshållare för innehåll 2"/>
          <p:cNvSpPr>
            <a:spLocks noGrp="1"/>
          </p:cNvSpPr>
          <p:nvPr>
            <p:ph idx="1"/>
          </p:nvPr>
        </p:nvSpPr>
        <p:spPr/>
        <p:txBody>
          <a:bodyPr>
            <a:normAutofit fontScale="70000" lnSpcReduction="20000"/>
          </a:bodyPr>
          <a:lstStyle/>
          <a:p>
            <a:r>
              <a:rPr lang="sv-SE" dirty="0" err="1"/>
              <a:t>You</a:t>
            </a:r>
            <a:r>
              <a:rPr lang="sv-SE" dirty="0"/>
              <a:t> </a:t>
            </a:r>
            <a:r>
              <a:rPr lang="sv-SE" dirty="0" err="1"/>
              <a:t>will</a:t>
            </a:r>
            <a:r>
              <a:rPr lang="sv-SE" dirty="0"/>
              <a:t> </a:t>
            </a:r>
            <a:r>
              <a:rPr lang="sv-SE" dirty="0" err="1"/>
              <a:t>sometimes</a:t>
            </a:r>
            <a:r>
              <a:rPr lang="sv-SE" dirty="0"/>
              <a:t> be </a:t>
            </a:r>
            <a:r>
              <a:rPr lang="sv-SE" dirty="0" err="1"/>
              <a:t>divided</a:t>
            </a:r>
            <a:r>
              <a:rPr lang="sv-SE" dirty="0"/>
              <a:t> </a:t>
            </a:r>
            <a:r>
              <a:rPr lang="sv-SE" dirty="0" err="1"/>
              <a:t>into</a:t>
            </a:r>
            <a:r>
              <a:rPr lang="sv-SE" dirty="0"/>
              <a:t> the </a:t>
            </a:r>
            <a:r>
              <a:rPr lang="sv-SE" dirty="0" err="1"/>
              <a:t>course</a:t>
            </a:r>
            <a:r>
              <a:rPr lang="sv-SE" dirty="0"/>
              <a:t> </a:t>
            </a:r>
            <a:r>
              <a:rPr lang="sv-SE" dirty="0" err="1"/>
              <a:t>groups</a:t>
            </a:r>
            <a:endParaRPr lang="sv-SE" dirty="0"/>
          </a:p>
          <a:p>
            <a:endParaRPr lang="sv-SE" dirty="0"/>
          </a:p>
          <a:p>
            <a:r>
              <a:rPr lang="sv-SE" dirty="0"/>
              <a:t>Different </a:t>
            </a:r>
            <a:r>
              <a:rPr lang="sv-SE" dirty="0" err="1"/>
              <a:t>groups</a:t>
            </a:r>
            <a:r>
              <a:rPr lang="sv-SE" dirty="0"/>
              <a:t> </a:t>
            </a:r>
            <a:r>
              <a:rPr lang="sv-SE" dirty="0" err="1"/>
              <a:t>have</a:t>
            </a:r>
            <a:r>
              <a:rPr lang="sv-SE" dirty="0"/>
              <a:t> same </a:t>
            </a:r>
            <a:r>
              <a:rPr lang="sv-SE" dirty="0" err="1"/>
              <a:t>mandatory</a:t>
            </a:r>
            <a:r>
              <a:rPr lang="sv-SE" dirty="0"/>
              <a:t> sessions </a:t>
            </a:r>
            <a:r>
              <a:rPr lang="sv-SE" dirty="0" err="1"/>
              <a:t>but</a:t>
            </a:r>
            <a:r>
              <a:rPr lang="sv-SE" dirty="0"/>
              <a:t> </a:t>
            </a:r>
            <a:r>
              <a:rPr lang="sv-SE" dirty="0" err="1"/>
              <a:t>sometimes</a:t>
            </a:r>
            <a:r>
              <a:rPr lang="sv-SE" dirty="0"/>
              <a:t> </a:t>
            </a:r>
            <a:r>
              <a:rPr lang="sv-SE" dirty="0" err="1"/>
              <a:t>during</a:t>
            </a:r>
            <a:r>
              <a:rPr lang="sv-SE" dirty="0"/>
              <a:t> different </a:t>
            </a:r>
            <a:r>
              <a:rPr lang="sv-SE" dirty="0" err="1"/>
              <a:t>time</a:t>
            </a:r>
            <a:r>
              <a:rPr lang="sv-SE" dirty="0"/>
              <a:t> </a:t>
            </a:r>
            <a:r>
              <a:rPr lang="sv-SE" dirty="0" err="1"/>
              <a:t>slots</a:t>
            </a:r>
            <a:r>
              <a:rPr lang="sv-SE" dirty="0"/>
              <a:t>, </a:t>
            </a:r>
            <a:r>
              <a:rPr lang="sv-SE" dirty="0" err="1"/>
              <a:t>sometimes</a:t>
            </a:r>
            <a:r>
              <a:rPr lang="sv-SE" dirty="0"/>
              <a:t> in parallell</a:t>
            </a:r>
            <a:endParaRPr lang="sv-SE" dirty="0"/>
          </a:p>
          <a:p>
            <a:endParaRPr lang="sv-SE" dirty="0"/>
          </a:p>
          <a:p>
            <a:r>
              <a:rPr lang="sv-SE" dirty="0" err="1"/>
              <a:t>Mandatory</a:t>
            </a:r>
            <a:r>
              <a:rPr lang="sv-SE" dirty="0"/>
              <a:t> to </a:t>
            </a:r>
            <a:r>
              <a:rPr lang="sv-SE" dirty="0" err="1"/>
              <a:t>attend</a:t>
            </a:r>
            <a:r>
              <a:rPr lang="sv-SE" dirty="0"/>
              <a:t> </a:t>
            </a:r>
            <a:r>
              <a:rPr lang="sv-SE" b="1" dirty="0"/>
              <a:t>all sessions</a:t>
            </a:r>
            <a:r>
              <a:rPr lang="sv-SE" dirty="0"/>
              <a:t> from </a:t>
            </a:r>
            <a:r>
              <a:rPr lang="sv-SE" dirty="0" err="1"/>
              <a:t>your</a:t>
            </a:r>
            <a:r>
              <a:rPr lang="sv-SE" dirty="0"/>
              <a:t> </a:t>
            </a:r>
            <a:r>
              <a:rPr lang="sv-SE" dirty="0" err="1"/>
              <a:t>group</a:t>
            </a:r>
            <a:r>
              <a:rPr lang="sv-SE" dirty="0"/>
              <a:t>, </a:t>
            </a:r>
            <a:r>
              <a:rPr lang="sv-SE" dirty="0" err="1"/>
              <a:t>even</a:t>
            </a:r>
            <a:r>
              <a:rPr lang="sv-SE" dirty="0"/>
              <a:t> </a:t>
            </a:r>
            <a:r>
              <a:rPr lang="sv-SE" dirty="0" err="1"/>
              <a:t>if</a:t>
            </a:r>
            <a:r>
              <a:rPr lang="sv-SE" dirty="0"/>
              <a:t> </a:t>
            </a:r>
            <a:r>
              <a:rPr lang="sv-SE" dirty="0" err="1"/>
              <a:t>scheduled</a:t>
            </a:r>
            <a:r>
              <a:rPr lang="sv-SE" dirty="0"/>
              <a:t> over </a:t>
            </a:r>
            <a:r>
              <a:rPr lang="sv-SE" dirty="0" err="1"/>
              <a:t>several</a:t>
            </a:r>
            <a:r>
              <a:rPr lang="sv-SE" dirty="0"/>
              <a:t> </a:t>
            </a:r>
            <a:r>
              <a:rPr lang="sv-SE" dirty="0" err="1"/>
              <a:t>days</a:t>
            </a:r>
            <a:r>
              <a:rPr lang="sv-SE" dirty="0"/>
              <a:t>.</a:t>
            </a:r>
            <a:endParaRPr lang="sv-SE" dirty="0"/>
          </a:p>
          <a:p>
            <a:endParaRPr lang="sv-SE" dirty="0"/>
          </a:p>
          <a:p>
            <a:r>
              <a:rPr lang="sv-SE" dirty="0" err="1"/>
              <a:t>You</a:t>
            </a:r>
            <a:r>
              <a:rPr lang="sv-SE" dirty="0"/>
              <a:t> </a:t>
            </a:r>
            <a:r>
              <a:rPr lang="sv-SE" dirty="0" err="1"/>
              <a:t>can</a:t>
            </a:r>
            <a:r>
              <a:rPr lang="sv-SE" dirty="0"/>
              <a:t> </a:t>
            </a:r>
            <a:r>
              <a:rPr lang="sv-SE" dirty="0" err="1"/>
              <a:t>also</a:t>
            </a:r>
            <a:r>
              <a:rPr lang="sv-SE" dirty="0"/>
              <a:t> come to sessions </a:t>
            </a:r>
            <a:r>
              <a:rPr lang="sv-SE" dirty="0" err="1"/>
              <a:t>of</a:t>
            </a:r>
            <a:r>
              <a:rPr lang="sv-SE" dirty="0"/>
              <a:t> </a:t>
            </a:r>
            <a:r>
              <a:rPr lang="sv-SE" dirty="0" err="1"/>
              <a:t>other</a:t>
            </a:r>
            <a:r>
              <a:rPr lang="sv-SE" dirty="0"/>
              <a:t> </a:t>
            </a:r>
            <a:r>
              <a:rPr lang="sv-SE" dirty="0" err="1"/>
              <a:t>group</a:t>
            </a:r>
            <a:r>
              <a:rPr lang="sv-SE" dirty="0"/>
              <a:t>(s)</a:t>
            </a:r>
            <a:endParaRPr lang="sv-SE" dirty="0"/>
          </a:p>
          <a:p>
            <a:endParaRPr lang="sv-SE" dirty="0"/>
          </a:p>
          <a:p>
            <a:r>
              <a:rPr lang="en-US" dirty="0"/>
              <a:t>Successive deadlines and mandatory sessions:</a:t>
            </a:r>
            <a:endParaRPr lang="en-US" dirty="0"/>
          </a:p>
          <a:p>
            <a:pPr lvl="1"/>
            <a:r>
              <a:rPr lang="sv-SE" dirty="0" err="1"/>
              <a:t>Thesis</a:t>
            </a:r>
            <a:r>
              <a:rPr lang="sv-SE" dirty="0"/>
              <a:t> </a:t>
            </a:r>
            <a:r>
              <a:rPr lang="sv-SE" dirty="0" err="1"/>
              <a:t>proposal</a:t>
            </a:r>
            <a:r>
              <a:rPr lang="sv-SE" dirty="0"/>
              <a:t> </a:t>
            </a:r>
            <a:r>
              <a:rPr lang="sv-SE" dirty="0" err="1"/>
              <a:t>seminar</a:t>
            </a:r>
            <a:endParaRPr lang="sv-SE" dirty="0"/>
          </a:p>
          <a:p>
            <a:pPr lvl="1"/>
            <a:r>
              <a:rPr lang="sv-SE" dirty="0"/>
              <a:t>Mid-term </a:t>
            </a:r>
            <a:r>
              <a:rPr lang="sv-SE" dirty="0" err="1"/>
              <a:t>report</a:t>
            </a:r>
            <a:endParaRPr lang="sv-SE" dirty="0"/>
          </a:p>
          <a:p>
            <a:pPr lvl="1"/>
            <a:r>
              <a:rPr lang="sv-SE" dirty="0"/>
              <a:t>Revision meeting</a:t>
            </a:r>
            <a:endParaRPr lang="sv-SE" dirty="0"/>
          </a:p>
          <a:p>
            <a:pPr lvl="1"/>
            <a:r>
              <a:rPr lang="sv-SE" dirty="0" err="1"/>
              <a:t>Defence</a:t>
            </a:r>
            <a:r>
              <a:rPr lang="sv-SE" dirty="0"/>
              <a:t> </a:t>
            </a:r>
            <a:r>
              <a:rPr lang="sv-SE" dirty="0" err="1"/>
              <a:t>seminar</a:t>
            </a:r>
            <a:endParaRPr lang="sv-SE" dirty="0"/>
          </a:p>
          <a:p>
            <a:endParaRPr lang="sv-SE" dirty="0"/>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a:t>Master </a:t>
            </a:r>
            <a:r>
              <a:rPr lang="sv-SE" dirty="0" err="1"/>
              <a:t>thesis</a:t>
            </a:r>
            <a:endParaRPr lang="sv-SE" dirty="0"/>
          </a:p>
        </p:txBody>
      </p:sp>
      <p:sp>
        <p:nvSpPr>
          <p:cNvPr id="3" name="Platshållare för innehåll 2"/>
          <p:cNvSpPr>
            <a:spLocks noGrp="1"/>
          </p:cNvSpPr>
          <p:nvPr>
            <p:ph idx="1"/>
          </p:nvPr>
        </p:nvSpPr>
        <p:spPr>
          <a:xfrm>
            <a:off x="457200" y="1600200"/>
            <a:ext cx="8229600" cy="4853136"/>
          </a:xfrm>
        </p:spPr>
        <p:txBody>
          <a:bodyPr>
            <a:normAutofit fontScale="70000" lnSpcReduction="20000"/>
          </a:bodyPr>
          <a:lstStyle/>
          <a:p>
            <a:r>
              <a:rPr lang="sv-SE" dirty="0" err="1"/>
              <a:t>Thesis</a:t>
            </a:r>
            <a:r>
              <a:rPr lang="sv-SE" dirty="0"/>
              <a:t> </a:t>
            </a:r>
            <a:r>
              <a:rPr lang="sv-SE" dirty="0" err="1"/>
              <a:t>project</a:t>
            </a:r>
            <a:r>
              <a:rPr lang="sv-SE" dirty="0"/>
              <a:t> is an </a:t>
            </a:r>
            <a:r>
              <a:rPr lang="sv-SE" dirty="0" err="1"/>
              <a:t>individual</a:t>
            </a:r>
            <a:r>
              <a:rPr lang="sv-SE" dirty="0"/>
              <a:t> </a:t>
            </a:r>
            <a:r>
              <a:rPr lang="sv-SE" dirty="0" err="1"/>
              <a:t>work</a:t>
            </a:r>
            <a:endParaRPr lang="sv-SE" dirty="0"/>
          </a:p>
          <a:p>
            <a:endParaRPr lang="en-US" dirty="0"/>
          </a:p>
          <a:p>
            <a:r>
              <a:rPr lang="en-US" dirty="0"/>
              <a:t>Missing some mandatory session may lead to that the examination of your work will be postponed to the next term!</a:t>
            </a:r>
            <a:endParaRPr lang="en-US" dirty="0"/>
          </a:p>
          <a:p>
            <a:endParaRPr lang="en-US" dirty="0"/>
          </a:p>
          <a:p>
            <a:r>
              <a:rPr lang="en-US" dirty="0"/>
              <a:t>Supervisors and examiners have been appointed to that semester in which you are supposed to complete your work</a:t>
            </a:r>
            <a:endParaRPr lang="en-US" dirty="0"/>
          </a:p>
          <a:p>
            <a:pPr lvl="1"/>
            <a:r>
              <a:rPr lang="en-US" dirty="0">
                <a:sym typeface="Wingdings" panose="05000000000000000000" pitchFamily="2" charset="2"/>
              </a:rPr>
              <a:t>Ex: not managing deadlines, missing mandatory sessions next semester, possibly new supervisor, possibly new project.</a:t>
            </a:r>
            <a:endParaRPr lang="en-US" dirty="0">
              <a:sym typeface="Wingdings" panose="05000000000000000000" pitchFamily="2" charset="2"/>
            </a:endParaRPr>
          </a:p>
          <a:p>
            <a:endParaRPr lang="en-US" dirty="0"/>
          </a:p>
          <a:p>
            <a:r>
              <a:rPr lang="en-US" dirty="0"/>
              <a:t>You shall act as opponent on another thesis</a:t>
            </a:r>
            <a:endParaRPr lang="sv-SE" dirty="0"/>
          </a:p>
          <a:p>
            <a:endParaRPr lang="sv-SE" dirty="0"/>
          </a:p>
          <a:p>
            <a:r>
              <a:rPr lang="sv-SE" b="1" dirty="0"/>
              <a:t>Note: total </a:t>
            </a:r>
            <a:r>
              <a:rPr lang="sv-SE" b="1" dirty="0" err="1"/>
              <a:t>thesis</a:t>
            </a:r>
            <a:r>
              <a:rPr lang="sv-SE" b="1" dirty="0"/>
              <a:t> </a:t>
            </a:r>
            <a:r>
              <a:rPr lang="sv-SE" b="1" dirty="0" err="1"/>
              <a:t>writing</a:t>
            </a:r>
            <a:r>
              <a:rPr lang="sv-SE" b="1" dirty="0"/>
              <a:t> </a:t>
            </a:r>
            <a:r>
              <a:rPr lang="sv-SE" b="1" dirty="0" err="1"/>
              <a:t>time</a:t>
            </a:r>
            <a:r>
              <a:rPr lang="sv-SE" b="1" dirty="0"/>
              <a:t> is </a:t>
            </a:r>
            <a:r>
              <a:rPr lang="sv-SE" b="1" dirty="0" err="1"/>
              <a:t>very</a:t>
            </a:r>
            <a:r>
              <a:rPr lang="sv-SE" b="1" dirty="0"/>
              <a:t> </a:t>
            </a:r>
            <a:r>
              <a:rPr lang="sv-SE" b="1" dirty="0" err="1"/>
              <a:t>limited</a:t>
            </a:r>
            <a:r>
              <a:rPr lang="sv-SE" b="1" dirty="0"/>
              <a:t> – all experiments </a:t>
            </a:r>
            <a:r>
              <a:rPr lang="sv-SE" b="1" dirty="0" err="1"/>
              <a:t>done</a:t>
            </a:r>
            <a:r>
              <a:rPr lang="sv-SE" b="1" dirty="0"/>
              <a:t>+ </a:t>
            </a:r>
            <a:r>
              <a:rPr lang="sv-SE" b="1" dirty="0" err="1"/>
              <a:t>thesis</a:t>
            </a:r>
            <a:r>
              <a:rPr lang="sv-SE" b="1" dirty="0"/>
              <a:t> </a:t>
            </a:r>
            <a:r>
              <a:rPr lang="sv-SE" b="1" dirty="0" err="1"/>
              <a:t>written</a:t>
            </a:r>
            <a:r>
              <a:rPr lang="sv-SE" b="1" dirty="0"/>
              <a:t> in </a:t>
            </a:r>
            <a:r>
              <a:rPr lang="sv-SE" b="1" dirty="0" err="1"/>
              <a:t>slightly</a:t>
            </a:r>
            <a:r>
              <a:rPr lang="sv-SE" b="1" dirty="0"/>
              <a:t> </a:t>
            </a:r>
            <a:r>
              <a:rPr lang="sv-SE" b="1" dirty="0" err="1"/>
              <a:t>more</a:t>
            </a:r>
            <a:r>
              <a:rPr lang="sv-SE" b="1" dirty="0"/>
              <a:t> </a:t>
            </a:r>
            <a:r>
              <a:rPr lang="sv-SE" b="1" dirty="0" err="1"/>
              <a:t>than</a:t>
            </a:r>
            <a:r>
              <a:rPr lang="sv-SE" b="1" dirty="0"/>
              <a:t> 3 </a:t>
            </a:r>
            <a:r>
              <a:rPr lang="sv-SE" b="1" dirty="0" err="1"/>
              <a:t>months</a:t>
            </a:r>
            <a:endParaRPr lang="sv-SE" b="1" dirty="0"/>
          </a:p>
          <a:p>
            <a:pPr lvl="1"/>
            <a:r>
              <a:rPr lang="sv-SE" dirty="0"/>
              <a:t>1-2 </a:t>
            </a:r>
            <a:r>
              <a:rPr lang="sv-SE" dirty="0" err="1"/>
              <a:t>methods</a:t>
            </a:r>
            <a:r>
              <a:rPr lang="sv-SE" dirty="0"/>
              <a:t> in </a:t>
            </a:r>
            <a:r>
              <a:rPr lang="sv-SE" dirty="0" err="1"/>
              <a:t>depth</a:t>
            </a:r>
            <a:r>
              <a:rPr lang="sv-SE" dirty="0"/>
              <a:t> </a:t>
            </a:r>
            <a:r>
              <a:rPr lang="sv-SE" dirty="0" err="1"/>
              <a:t>rather</a:t>
            </a:r>
            <a:r>
              <a:rPr lang="sv-SE" dirty="0"/>
              <a:t> </a:t>
            </a:r>
            <a:r>
              <a:rPr lang="sv-SE" dirty="0" err="1"/>
              <a:t>than</a:t>
            </a:r>
            <a:r>
              <a:rPr lang="sv-SE" dirty="0"/>
              <a:t> </a:t>
            </a:r>
            <a:r>
              <a:rPr lang="sv-SE" dirty="0" err="1"/>
              <a:t>scratching</a:t>
            </a:r>
            <a:r>
              <a:rPr lang="sv-SE" dirty="0"/>
              <a:t> </a:t>
            </a:r>
            <a:r>
              <a:rPr lang="sv-SE" dirty="0" err="1"/>
              <a:t>many</a:t>
            </a:r>
            <a:r>
              <a:rPr lang="sv-SE" dirty="0"/>
              <a:t> on the </a:t>
            </a:r>
            <a:r>
              <a:rPr lang="sv-SE" dirty="0" err="1"/>
              <a:t>surface</a:t>
            </a:r>
            <a:endParaRPr lang="sv-SE" dirty="0"/>
          </a:p>
          <a:p>
            <a:pPr lvl="1"/>
            <a:r>
              <a:rPr lang="sv-SE" dirty="0" err="1"/>
              <a:t>Grade</a:t>
            </a:r>
            <a:r>
              <a:rPr lang="sv-SE" dirty="0"/>
              <a:t> is not </a:t>
            </a:r>
            <a:r>
              <a:rPr lang="sv-SE" dirty="0" err="1"/>
              <a:t>related</a:t>
            </a:r>
            <a:r>
              <a:rPr lang="sv-SE" dirty="0"/>
              <a:t> to the </a:t>
            </a:r>
            <a:r>
              <a:rPr lang="sv-SE" dirty="0" err="1"/>
              <a:t>accuracy</a:t>
            </a:r>
            <a:r>
              <a:rPr lang="sv-SE" dirty="0"/>
              <a:t> </a:t>
            </a:r>
            <a:r>
              <a:rPr lang="sv-SE" dirty="0" err="1"/>
              <a:t>of</a:t>
            </a:r>
            <a:r>
              <a:rPr lang="sv-SE" dirty="0"/>
              <a:t> </a:t>
            </a:r>
            <a:r>
              <a:rPr lang="sv-SE" dirty="0" err="1"/>
              <a:t>your</a:t>
            </a:r>
            <a:r>
              <a:rPr lang="sv-SE" dirty="0"/>
              <a:t> </a:t>
            </a:r>
            <a:r>
              <a:rPr lang="sv-SE" dirty="0" err="1"/>
              <a:t>model</a:t>
            </a:r>
            <a:endParaRPr lang="sv-SE" dirty="0"/>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7" dur="500"/>
                                        <p:tgtEl>
                                          <p:spTgt spid="3">
                                            <p:txEl>
                                              <p:pRg st="4" end="4"/>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randombar(horizontal)">
                                      <p:cBhvr>
                                        <p:cTn id="25" dur="500"/>
                                        <p:tgtEl>
                                          <p:spTgt spid="3">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randombar(horizontal)">
                                      <p:cBhvr>
                                        <p:cTn id="30" dur="500"/>
                                        <p:tgtEl>
                                          <p:spTgt spid="3">
                                            <p:txEl>
                                              <p:pRg st="9" end="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35" dur="500"/>
                                        <p:tgtEl>
                                          <p:spTgt spid="3">
                                            <p:txEl>
                                              <p:pRg st="10" end="1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randombar(horizontal)">
                                      <p:cBhvr>
                                        <p:cTn id="40"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a:t>Supervision</a:t>
            </a:r>
            <a:endParaRPr lang="sv-SE" dirty="0"/>
          </a:p>
        </p:txBody>
      </p:sp>
      <p:sp>
        <p:nvSpPr>
          <p:cNvPr id="3" name="Platshållare för innehåll 2"/>
          <p:cNvSpPr>
            <a:spLocks noGrp="1"/>
          </p:cNvSpPr>
          <p:nvPr>
            <p:ph idx="1"/>
          </p:nvPr>
        </p:nvSpPr>
        <p:spPr>
          <a:xfrm>
            <a:off x="457200" y="1600200"/>
            <a:ext cx="8229600" cy="4756150"/>
          </a:xfrm>
        </p:spPr>
        <p:txBody>
          <a:bodyPr>
            <a:normAutofit/>
          </a:bodyPr>
          <a:lstStyle/>
          <a:p>
            <a:r>
              <a:rPr lang="en-US" sz="2000" dirty="0"/>
              <a:t>The normal frequency of meetings with the supervisor is every second week.</a:t>
            </a:r>
            <a:endParaRPr lang="en-US" sz="2000" dirty="0"/>
          </a:p>
          <a:p>
            <a:endParaRPr lang="en-US" sz="2000" dirty="0"/>
          </a:p>
          <a:p>
            <a:r>
              <a:rPr lang="en-US" sz="2000" dirty="0"/>
              <a:t>It is mainly the student who puts “the agenda” for the meeting, i.e. you are expected to regularly demonstrate the progress and prepare the questions.</a:t>
            </a:r>
            <a:endParaRPr lang="en-US" sz="2000" dirty="0"/>
          </a:p>
          <a:p>
            <a:endParaRPr lang="en-US" sz="2000" dirty="0"/>
          </a:p>
          <a:p>
            <a:r>
              <a:rPr lang="en-US" sz="2000" dirty="0"/>
              <a:t>At each meeting it is recommended to agree on what the next steps are.</a:t>
            </a:r>
            <a:endParaRPr lang="en-US" sz="2000" dirty="0"/>
          </a:p>
          <a:p>
            <a:endParaRPr lang="en-US" sz="2000" dirty="0"/>
          </a:p>
          <a:p>
            <a:r>
              <a:rPr lang="en-US" sz="2000" dirty="0"/>
              <a:t>You are expected to successively show progress in your thesis writing</a:t>
            </a:r>
            <a:endParaRPr lang="en-US" sz="2000" dirty="0"/>
          </a:p>
          <a:p>
            <a:pPr lvl="1"/>
            <a:r>
              <a:rPr lang="en-US" sz="1800" dirty="0"/>
              <a:t>Start writing very early!</a:t>
            </a:r>
            <a:endParaRPr lang="en-US" sz="1800" dirty="0"/>
          </a:p>
          <a:p>
            <a:pPr lvl="1"/>
            <a:r>
              <a:rPr lang="en-US" sz="1800" dirty="0"/>
              <a:t>Submit manuscript parts to the supervisor in due time before the meeting (to facilitate feedback)</a:t>
            </a:r>
            <a:endParaRPr lang="en-US" sz="1800" dirty="0"/>
          </a:p>
          <a:p>
            <a:endParaRPr lang="en-US" sz="2000" dirty="0"/>
          </a:p>
          <a:p>
            <a:pPr lvl="1"/>
            <a:endParaRPr lang="en-US" sz="1800" dirty="0"/>
          </a:p>
          <a:p>
            <a:endParaRPr lang="en-US" sz="1600" dirty="0"/>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17" dur="500"/>
                                        <p:tgtEl>
                                          <p:spTgt spid="3">
                                            <p:txEl>
                                              <p:pRg st="6" end="6"/>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animEffect transition="in" filter="randombar(horizontal)">
                                      <p:cBhvr>
                                        <p:cTn id="20" dur="500"/>
                                        <p:tgtEl>
                                          <p:spTgt spid="3">
                                            <p:txEl>
                                              <p:pRg st="7" end="7"/>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randombar(horizontal)">
                                      <p:cBhvr>
                                        <p:cTn id="2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Supervision</a:t>
            </a:r>
            <a:endParaRPr lang="en-GB" dirty="0"/>
          </a:p>
        </p:txBody>
      </p:sp>
      <p:sp>
        <p:nvSpPr>
          <p:cNvPr id="3" name="Content Placeholder 2"/>
          <p:cNvSpPr>
            <a:spLocks noGrp="1"/>
          </p:cNvSpPr>
          <p:nvPr>
            <p:ph idx="1"/>
          </p:nvPr>
        </p:nvSpPr>
        <p:spPr/>
        <p:txBody>
          <a:bodyPr/>
          <a:lstStyle/>
          <a:p>
            <a:r>
              <a:rPr lang="en-US" sz="2400" dirty="0"/>
              <a:t>Supervisor is doing examination as well, i.e. evaluates your </a:t>
            </a:r>
            <a:endParaRPr lang="en-US" sz="2400" dirty="0"/>
          </a:p>
          <a:p>
            <a:pPr lvl="1"/>
            <a:r>
              <a:rPr lang="en-US" sz="2000" dirty="0"/>
              <a:t>Progression</a:t>
            </a:r>
            <a:endParaRPr lang="en-US" sz="2000" dirty="0"/>
          </a:p>
          <a:p>
            <a:pPr lvl="1"/>
            <a:r>
              <a:rPr lang="en-US" sz="2000" dirty="0"/>
              <a:t>Independence</a:t>
            </a:r>
            <a:endParaRPr lang="en-US" sz="2000" dirty="0"/>
          </a:p>
          <a:p>
            <a:pPr lvl="2"/>
            <a:r>
              <a:rPr lang="en-US" sz="1600" dirty="0"/>
              <a:t>Independence does not mean that you need to plan everything yourself and then come to the supervisor with the final results of your experiments!</a:t>
            </a:r>
            <a:endParaRPr lang="en-US" sz="1600" dirty="0"/>
          </a:p>
          <a:p>
            <a:pPr lvl="2"/>
            <a:r>
              <a:rPr lang="en-US" sz="1600" dirty="0"/>
              <a:t>You should be the driving force: show your initiative, give your suggestions regarding the possible ways to solve the research problems.</a:t>
            </a:r>
            <a:endParaRPr lang="en-US" sz="1600" dirty="0"/>
          </a:p>
          <a:p>
            <a:pPr lvl="1"/>
            <a:r>
              <a:rPr lang="en-US" sz="2000" dirty="0"/>
              <a:t>Communication and collaboration skills</a:t>
            </a:r>
            <a:endParaRPr lang="en-US" sz="2000" dirty="0"/>
          </a:p>
          <a:p>
            <a:endParaRPr lang="en-GB" dirty="0"/>
          </a:p>
        </p:txBody>
      </p:sp>
      <p:sp>
        <p:nvSpPr>
          <p:cNvPr id="4" name="Footer Placeholder 3"/>
          <p:cNvSpPr>
            <a:spLocks noGrp="1"/>
          </p:cNvSpPr>
          <p:nvPr>
            <p:ph type="ftr" sz="quarter" idx="11"/>
          </p:nvPr>
        </p:nvSpPr>
        <p:spPr/>
        <p:txBody>
          <a:bodyPr/>
          <a:lstStyle/>
          <a:p>
            <a:r>
              <a:rPr lang="sv-SE"/>
              <a:t>732A64</a:t>
            </a:r>
            <a:endParaRPr lang="sv-SE"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a:t>Supervision</a:t>
            </a:r>
            <a:endParaRPr lang="sv-SE" dirty="0"/>
          </a:p>
        </p:txBody>
      </p:sp>
      <p:sp>
        <p:nvSpPr>
          <p:cNvPr id="3" name="Platshållare för innehåll 2"/>
          <p:cNvSpPr>
            <a:spLocks noGrp="1"/>
          </p:cNvSpPr>
          <p:nvPr>
            <p:ph idx="1"/>
          </p:nvPr>
        </p:nvSpPr>
        <p:spPr/>
        <p:txBody>
          <a:bodyPr>
            <a:normAutofit lnSpcReduction="10000"/>
          </a:bodyPr>
          <a:lstStyle/>
          <a:p>
            <a:pPr lvl="1"/>
            <a:endParaRPr lang="en-US" sz="1800" dirty="0"/>
          </a:p>
          <a:p>
            <a:r>
              <a:rPr lang="sv-SE" sz="2000" dirty="0">
                <a:sym typeface="Wingdings" panose="05000000000000000000" pitchFamily="2" charset="2"/>
              </a:rPr>
              <a:t>The supervisor is </a:t>
            </a:r>
            <a:r>
              <a:rPr lang="sv-SE" sz="2000" dirty="0" err="1">
                <a:sym typeface="Wingdings" panose="05000000000000000000" pitchFamily="2" charset="2"/>
              </a:rPr>
              <a:t>supposed</a:t>
            </a:r>
            <a:r>
              <a:rPr lang="sv-SE" sz="2000" dirty="0">
                <a:sym typeface="Wingdings" panose="05000000000000000000" pitchFamily="2" charset="2"/>
              </a:rPr>
              <a:t> to </a:t>
            </a:r>
            <a:r>
              <a:rPr lang="sv-SE" sz="2000" dirty="0" err="1">
                <a:sym typeface="Wingdings" panose="05000000000000000000" pitchFamily="2" charset="2"/>
              </a:rPr>
              <a:t>evaluate</a:t>
            </a:r>
            <a:r>
              <a:rPr lang="sv-SE" sz="2000" dirty="0">
                <a:sym typeface="Wingdings" panose="05000000000000000000" pitchFamily="2" charset="2"/>
              </a:rPr>
              <a:t> </a:t>
            </a:r>
            <a:r>
              <a:rPr lang="sv-SE" sz="2000" dirty="0" err="1">
                <a:sym typeface="Wingdings" panose="05000000000000000000" pitchFamily="2" charset="2"/>
              </a:rPr>
              <a:t>your</a:t>
            </a:r>
            <a:r>
              <a:rPr lang="sv-SE" sz="2000" dirty="0">
                <a:sym typeface="Wingdings" panose="05000000000000000000" pitchFamily="2" charset="2"/>
              </a:rPr>
              <a:t> progression (</a:t>
            </a:r>
            <a:r>
              <a:rPr lang="sv-SE" sz="2000" dirty="0" err="1">
                <a:sym typeface="Wingdings" panose="05000000000000000000" pitchFamily="2" charset="2"/>
              </a:rPr>
              <a:t>which</a:t>
            </a:r>
            <a:r>
              <a:rPr lang="sv-SE" sz="2000" dirty="0">
                <a:sym typeface="Wingdings" panose="05000000000000000000" pitchFamily="2" charset="2"/>
              </a:rPr>
              <a:t> is a part </a:t>
            </a:r>
            <a:r>
              <a:rPr lang="sv-SE" sz="2000" dirty="0" err="1">
                <a:sym typeface="Wingdings" panose="05000000000000000000" pitchFamily="2" charset="2"/>
              </a:rPr>
              <a:t>of</a:t>
            </a:r>
            <a:r>
              <a:rPr lang="sv-SE" sz="2000" dirty="0">
                <a:sym typeface="Wingdings" panose="05000000000000000000" pitchFamily="2" charset="2"/>
              </a:rPr>
              <a:t> the </a:t>
            </a:r>
            <a:r>
              <a:rPr lang="sv-SE" sz="2000" dirty="0" err="1">
                <a:sym typeface="Wingdings" panose="05000000000000000000" pitchFamily="2" charset="2"/>
              </a:rPr>
              <a:t>grade</a:t>
            </a:r>
            <a:r>
              <a:rPr lang="sv-SE" sz="2000" dirty="0">
                <a:sym typeface="Wingdings" panose="05000000000000000000" pitchFamily="2" charset="2"/>
              </a:rPr>
              <a:t>)  </a:t>
            </a:r>
            <a:r>
              <a:rPr lang="sv-SE" sz="2000" dirty="0">
                <a:solidFill>
                  <a:srgbClr val="0000FF"/>
                </a:solidFill>
                <a:sym typeface="Wingdings" panose="05000000000000000000" pitchFamily="2" charset="2"/>
              </a:rPr>
              <a:t>the supervisor has a right to </a:t>
            </a:r>
            <a:r>
              <a:rPr lang="sv-SE" sz="2000" dirty="0" err="1">
                <a:solidFill>
                  <a:srgbClr val="0000FF"/>
                </a:solidFill>
                <a:sym typeface="Wingdings" panose="05000000000000000000" pitchFamily="2" charset="2"/>
              </a:rPr>
              <a:t>request</a:t>
            </a:r>
            <a:r>
              <a:rPr lang="sv-SE" sz="2000" dirty="0">
                <a:solidFill>
                  <a:srgbClr val="0000FF"/>
                </a:solidFill>
                <a:sym typeface="Wingdings" panose="05000000000000000000" pitchFamily="2" charset="2"/>
              </a:rPr>
              <a:t> the texts </a:t>
            </a:r>
            <a:r>
              <a:rPr lang="sv-SE" sz="2000" dirty="0" err="1">
                <a:solidFill>
                  <a:srgbClr val="0000FF"/>
                </a:solidFill>
                <a:sym typeface="Wingdings" panose="05000000000000000000" pitchFamily="2" charset="2"/>
              </a:rPr>
              <a:t>demonstrating</a:t>
            </a:r>
            <a:r>
              <a:rPr lang="sv-SE" sz="2000" dirty="0">
                <a:solidFill>
                  <a:srgbClr val="0000FF"/>
                </a:solidFill>
                <a:sym typeface="Wingdings" panose="05000000000000000000" pitchFamily="2" charset="2"/>
              </a:rPr>
              <a:t> </a:t>
            </a:r>
            <a:r>
              <a:rPr lang="sv-SE" sz="2000" dirty="0" err="1">
                <a:solidFill>
                  <a:srgbClr val="0000FF"/>
                </a:solidFill>
                <a:sym typeface="Wingdings" panose="05000000000000000000" pitchFamily="2" charset="2"/>
              </a:rPr>
              <a:t>your</a:t>
            </a:r>
            <a:r>
              <a:rPr lang="sv-SE" sz="2000" dirty="0">
                <a:solidFill>
                  <a:srgbClr val="0000FF"/>
                </a:solidFill>
                <a:sym typeface="Wingdings" panose="05000000000000000000" pitchFamily="2" charset="2"/>
              </a:rPr>
              <a:t> progress at </a:t>
            </a:r>
            <a:r>
              <a:rPr lang="sv-SE" sz="2000" dirty="0" err="1">
                <a:solidFill>
                  <a:srgbClr val="0000FF"/>
                </a:solidFill>
                <a:sym typeface="Wingdings" panose="05000000000000000000" pitchFamily="2" charset="2"/>
              </a:rPr>
              <a:t>any</a:t>
            </a:r>
            <a:r>
              <a:rPr lang="sv-SE" sz="2000" dirty="0">
                <a:solidFill>
                  <a:srgbClr val="0000FF"/>
                </a:solidFill>
                <a:sym typeface="Wingdings" panose="05000000000000000000" pitchFamily="2" charset="2"/>
              </a:rPr>
              <a:t> </a:t>
            </a:r>
            <a:r>
              <a:rPr lang="sv-SE" sz="2000" dirty="0" err="1">
                <a:solidFill>
                  <a:srgbClr val="0000FF"/>
                </a:solidFill>
                <a:sym typeface="Wingdings" panose="05000000000000000000" pitchFamily="2" charset="2"/>
              </a:rPr>
              <a:t>time</a:t>
            </a:r>
            <a:r>
              <a:rPr lang="sv-SE" sz="2000" dirty="0">
                <a:solidFill>
                  <a:srgbClr val="0000FF"/>
                </a:solidFill>
                <a:sym typeface="Wingdings" panose="05000000000000000000" pitchFamily="2" charset="2"/>
              </a:rPr>
              <a:t> </a:t>
            </a:r>
            <a:r>
              <a:rPr lang="sv-SE" sz="2000" dirty="0" err="1">
                <a:solidFill>
                  <a:srgbClr val="0000FF"/>
                </a:solidFill>
                <a:sym typeface="Wingdings" panose="05000000000000000000" pitchFamily="2" charset="2"/>
              </a:rPr>
              <a:t>point</a:t>
            </a:r>
            <a:r>
              <a:rPr lang="sv-SE" sz="2000" dirty="0">
                <a:solidFill>
                  <a:srgbClr val="0000FF"/>
                </a:solidFill>
                <a:sym typeface="Wingdings" panose="05000000000000000000" pitchFamily="2" charset="2"/>
              </a:rPr>
              <a:t>!</a:t>
            </a:r>
            <a:endParaRPr lang="sv-SE" sz="2000" dirty="0">
              <a:solidFill>
                <a:srgbClr val="0000FF"/>
              </a:solidFill>
              <a:sym typeface="Wingdings" panose="05000000000000000000" pitchFamily="2" charset="2"/>
            </a:endParaRPr>
          </a:p>
          <a:p>
            <a:endParaRPr lang="sv-SE" sz="2000" dirty="0">
              <a:solidFill>
                <a:srgbClr val="0000FF"/>
              </a:solidFill>
            </a:endParaRPr>
          </a:p>
          <a:p>
            <a:r>
              <a:rPr lang="en-US" sz="2000" dirty="0"/>
              <a:t>Some supervisors are experts in ML but not in statistics, some supervisors in statistics but not ML </a:t>
            </a:r>
            <a:r>
              <a:rPr lang="en-US" sz="2000" dirty="0">
                <a:sym typeface="Wingdings" panose="05000000000000000000" pitchFamily="2" charset="2"/>
              </a:rPr>
              <a:t> take more own initiatives to resolve the questions outside your supervisor competence, discuss potential solutions with your supervisor</a:t>
            </a:r>
            <a:endParaRPr lang="en-US" sz="2000" dirty="0">
              <a:sym typeface="Wingdings" panose="05000000000000000000" pitchFamily="2" charset="2"/>
            </a:endParaRPr>
          </a:p>
          <a:p>
            <a:endParaRPr lang="en-US" sz="2000" dirty="0">
              <a:sym typeface="Wingdings" panose="05000000000000000000" pitchFamily="2" charset="2"/>
            </a:endParaRPr>
          </a:p>
          <a:p>
            <a:r>
              <a:rPr lang="en-US" sz="2000" b="1" dirty="0">
                <a:solidFill>
                  <a:srgbClr val="0000FF"/>
                </a:solidFill>
                <a:sym typeface="Wingdings" panose="05000000000000000000" pitchFamily="2" charset="2"/>
              </a:rPr>
              <a:t>Your thesis is formally in Statistics </a:t>
            </a:r>
            <a:r>
              <a:rPr lang="en-US" sz="2000" dirty="0">
                <a:sym typeface="Wingdings" panose="05000000000000000000" pitchFamily="2" charset="2"/>
              </a:rPr>
              <a:t> Important to make sure that Statistics is clearly there</a:t>
            </a:r>
            <a:endParaRPr lang="en-US" sz="2000" dirty="0">
              <a:sym typeface="Wingdings" panose="05000000000000000000" pitchFamily="2" charset="2"/>
            </a:endParaRPr>
          </a:p>
          <a:p>
            <a:pPr lvl="1"/>
            <a:r>
              <a:rPr lang="en-US" sz="1600" dirty="0">
                <a:sym typeface="Wingdings" panose="05000000000000000000" pitchFamily="2" charset="2"/>
              </a:rPr>
              <a:t>Statistical methods as a comparison benchmark</a:t>
            </a:r>
            <a:endParaRPr lang="en-US" sz="1600" dirty="0">
              <a:sym typeface="Wingdings" panose="05000000000000000000" pitchFamily="2" charset="2"/>
            </a:endParaRPr>
          </a:p>
          <a:p>
            <a:pPr lvl="1"/>
            <a:r>
              <a:rPr lang="en-US" sz="1600" dirty="0">
                <a:sym typeface="Wingdings" panose="05000000000000000000" pitchFamily="2" charset="2"/>
              </a:rPr>
              <a:t>Statistical Deep learning: variational methods, MCMC</a:t>
            </a:r>
            <a:endParaRPr lang="en-US" sz="1600" dirty="0">
              <a:sym typeface="Wingdings" panose="05000000000000000000" pitchFamily="2" charset="2"/>
            </a:endParaRPr>
          </a:p>
          <a:p>
            <a:pPr lvl="1"/>
            <a:r>
              <a:rPr lang="en-US" sz="1600" dirty="0">
                <a:sym typeface="Wingdings" panose="05000000000000000000" pitchFamily="2" charset="2"/>
              </a:rPr>
              <a:t>Hypothesis testing, prediction intervals, confidence intervals</a:t>
            </a:r>
            <a:endParaRPr lang="en-US" sz="1600" dirty="0"/>
          </a:p>
          <a:p>
            <a:endParaRPr lang="sv-SE" dirty="0"/>
          </a:p>
          <a:p>
            <a:pPr marL="0" indent="0">
              <a:buNone/>
            </a:pPr>
            <a:endParaRPr lang="sv-SE" dirty="0"/>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2" dur="500"/>
                                        <p:tgtEl>
                                          <p:spTgt spid="3">
                                            <p:txEl>
                                              <p:pRg st="5" end="5"/>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randombar(horizontal)">
                                      <p:cBhvr>
                                        <p:cTn id="15" dur="500"/>
                                        <p:tgtEl>
                                          <p:spTgt spid="3">
                                            <p:txEl>
                                              <p:pRg st="6" end="6"/>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randombar(horizontal)">
                                      <p:cBhvr>
                                        <p:cTn id="18" dur="500"/>
                                        <p:tgtEl>
                                          <p:spTgt spid="3">
                                            <p:txEl>
                                              <p:pRg st="7" end="7"/>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randombar(horizontal)">
                                      <p:cBhvr>
                                        <p:cTn id="2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a:t>Non-</a:t>
            </a:r>
            <a:r>
              <a:rPr lang="sv-SE" dirty="0" err="1"/>
              <a:t>disclosure</a:t>
            </a:r>
            <a:r>
              <a:rPr lang="sv-SE" dirty="0"/>
              <a:t> </a:t>
            </a:r>
            <a:r>
              <a:rPr lang="sv-SE" dirty="0" err="1"/>
              <a:t>agreement</a:t>
            </a:r>
            <a:endParaRPr lang="sv-SE" dirty="0"/>
          </a:p>
        </p:txBody>
      </p:sp>
      <p:sp>
        <p:nvSpPr>
          <p:cNvPr id="3" name="Platshållare för innehåll 2"/>
          <p:cNvSpPr>
            <a:spLocks noGrp="1"/>
          </p:cNvSpPr>
          <p:nvPr>
            <p:ph idx="1"/>
          </p:nvPr>
        </p:nvSpPr>
        <p:spPr>
          <a:xfrm>
            <a:off x="457200" y="1600200"/>
            <a:ext cx="8229600" cy="4756150"/>
          </a:xfrm>
        </p:spPr>
        <p:txBody>
          <a:bodyPr>
            <a:normAutofit fontScale="92500" lnSpcReduction="10000"/>
          </a:bodyPr>
          <a:lstStyle/>
          <a:p>
            <a:r>
              <a:rPr lang="sv-SE" sz="2400" dirty="0" err="1"/>
              <a:t>Some</a:t>
            </a:r>
            <a:r>
              <a:rPr lang="sv-SE" sz="2400" dirty="0"/>
              <a:t> </a:t>
            </a:r>
            <a:r>
              <a:rPr lang="sv-SE" sz="2400" dirty="0" err="1"/>
              <a:t>companies</a:t>
            </a:r>
            <a:r>
              <a:rPr lang="sv-SE" sz="2400" dirty="0"/>
              <a:t> ask for NDA</a:t>
            </a:r>
            <a:endParaRPr lang="sv-SE" sz="2400" dirty="0"/>
          </a:p>
          <a:p>
            <a:endParaRPr lang="sv-SE" sz="2400" dirty="0"/>
          </a:p>
          <a:p>
            <a:r>
              <a:rPr lang="sv-SE" sz="2400" dirty="0" err="1"/>
              <a:t>Discuss</a:t>
            </a:r>
            <a:r>
              <a:rPr lang="sv-SE" sz="2400" dirty="0"/>
              <a:t> NDA </a:t>
            </a:r>
            <a:r>
              <a:rPr lang="sv-SE" sz="2400" dirty="0" err="1"/>
              <a:t>with</a:t>
            </a:r>
            <a:r>
              <a:rPr lang="sv-SE" sz="2400" dirty="0"/>
              <a:t> the </a:t>
            </a:r>
            <a:r>
              <a:rPr lang="sv-SE" sz="2400" dirty="0" err="1"/>
              <a:t>company</a:t>
            </a:r>
            <a:r>
              <a:rPr lang="sv-SE" sz="2400" dirty="0"/>
              <a:t> in the </a:t>
            </a:r>
            <a:r>
              <a:rPr lang="sv-SE" sz="2400" dirty="0" err="1"/>
              <a:t>beginning</a:t>
            </a:r>
            <a:r>
              <a:rPr lang="sv-SE" sz="2400" dirty="0"/>
              <a:t> </a:t>
            </a:r>
            <a:r>
              <a:rPr lang="sv-SE" sz="2400" dirty="0" err="1"/>
              <a:t>of</a:t>
            </a:r>
            <a:r>
              <a:rPr lang="sv-SE" sz="2400" dirty="0"/>
              <a:t> the </a:t>
            </a:r>
            <a:r>
              <a:rPr lang="sv-SE" sz="2400" dirty="0" err="1"/>
              <a:t>project</a:t>
            </a:r>
            <a:r>
              <a:rPr lang="sv-SE" sz="2400" dirty="0"/>
              <a:t>, </a:t>
            </a:r>
            <a:r>
              <a:rPr lang="sv-SE" sz="2400" b="1" dirty="0"/>
              <a:t>not in the end</a:t>
            </a:r>
            <a:r>
              <a:rPr lang="sv-SE" sz="2400" dirty="0"/>
              <a:t>! </a:t>
            </a:r>
            <a:r>
              <a:rPr lang="sv-SE" sz="2400" b="1" dirty="0"/>
              <a:t>Read </a:t>
            </a:r>
            <a:r>
              <a:rPr lang="sv-SE" sz="2400" b="1" dirty="0" err="1"/>
              <a:t>what</a:t>
            </a:r>
            <a:r>
              <a:rPr lang="sv-SE" sz="2400" b="1" dirty="0"/>
              <a:t> </a:t>
            </a:r>
            <a:r>
              <a:rPr lang="sv-SE" sz="2400" b="1" dirty="0" err="1"/>
              <a:t>you</a:t>
            </a:r>
            <a:r>
              <a:rPr lang="sv-SE" sz="2400" b="1" dirty="0"/>
              <a:t> </a:t>
            </a:r>
            <a:r>
              <a:rPr lang="sv-SE" sz="2400" b="1" dirty="0" err="1"/>
              <a:t>are</a:t>
            </a:r>
            <a:r>
              <a:rPr lang="sv-SE" sz="2400" b="1" dirty="0"/>
              <a:t> </a:t>
            </a:r>
            <a:r>
              <a:rPr lang="sv-SE" sz="2400" b="1" dirty="0" err="1"/>
              <a:t>signing</a:t>
            </a:r>
            <a:r>
              <a:rPr lang="sv-SE" sz="2400" b="1" dirty="0"/>
              <a:t>!</a:t>
            </a:r>
            <a:endParaRPr lang="sv-SE" sz="2400" dirty="0"/>
          </a:p>
          <a:p>
            <a:endParaRPr lang="sv-SE" sz="2400" dirty="0"/>
          </a:p>
          <a:p>
            <a:r>
              <a:rPr lang="sv-SE" sz="2400" dirty="0"/>
              <a:t>A </a:t>
            </a:r>
            <a:r>
              <a:rPr lang="sv-SE" sz="2400" dirty="0" err="1"/>
              <a:t>few</a:t>
            </a:r>
            <a:r>
              <a:rPr lang="sv-SE" sz="2400" dirty="0"/>
              <a:t> </a:t>
            </a:r>
            <a:r>
              <a:rPr lang="sv-SE" sz="2400" dirty="0" err="1"/>
              <a:t>details</a:t>
            </a:r>
            <a:r>
              <a:rPr lang="sv-SE" sz="2400" dirty="0"/>
              <a:t> </a:t>
            </a:r>
            <a:r>
              <a:rPr lang="sv-SE" sz="2400" dirty="0" err="1"/>
              <a:t>can</a:t>
            </a:r>
            <a:r>
              <a:rPr lang="sv-SE" sz="2400" dirty="0"/>
              <a:t> be </a:t>
            </a:r>
            <a:r>
              <a:rPr lang="sv-SE" sz="2400" dirty="0" err="1"/>
              <a:t>masked</a:t>
            </a:r>
            <a:r>
              <a:rPr lang="sv-SE" sz="2400" dirty="0"/>
              <a:t> (ex. </a:t>
            </a:r>
            <a:r>
              <a:rPr lang="sv-SE" sz="2400" dirty="0" err="1"/>
              <a:t>name</a:t>
            </a:r>
            <a:r>
              <a:rPr lang="sv-SE" sz="2400" dirty="0"/>
              <a:t> </a:t>
            </a:r>
            <a:r>
              <a:rPr lang="sv-SE" sz="2400" dirty="0" err="1"/>
              <a:t>of</a:t>
            </a:r>
            <a:r>
              <a:rPr lang="sv-SE" sz="2400" dirty="0"/>
              <a:t> a </a:t>
            </a:r>
            <a:r>
              <a:rPr lang="sv-SE" sz="2400" dirty="0" err="1"/>
              <a:t>variable</a:t>
            </a:r>
            <a:r>
              <a:rPr lang="sv-SE" sz="2400" dirty="0"/>
              <a:t>) </a:t>
            </a:r>
            <a:r>
              <a:rPr lang="sv-SE" sz="2400" dirty="0" err="1"/>
              <a:t>but</a:t>
            </a:r>
            <a:r>
              <a:rPr lang="sv-SE" sz="2400" dirty="0"/>
              <a:t> the </a:t>
            </a:r>
            <a:r>
              <a:rPr lang="sv-SE" sz="2400" dirty="0" err="1"/>
              <a:t>main</a:t>
            </a:r>
            <a:r>
              <a:rPr lang="sv-SE" sz="2400" dirty="0"/>
              <a:t> </a:t>
            </a:r>
            <a:r>
              <a:rPr lang="sv-SE" sz="2400" dirty="0" err="1"/>
              <a:t>messages</a:t>
            </a:r>
            <a:r>
              <a:rPr lang="sv-SE" sz="2400" dirty="0"/>
              <a:t>/</a:t>
            </a:r>
            <a:r>
              <a:rPr lang="sv-SE" sz="2400" dirty="0" err="1"/>
              <a:t>models</a:t>
            </a:r>
            <a:r>
              <a:rPr lang="sv-SE" sz="2400" dirty="0"/>
              <a:t>/</a:t>
            </a:r>
            <a:r>
              <a:rPr lang="sv-SE" sz="2400" dirty="0" err="1"/>
              <a:t>results</a:t>
            </a:r>
            <a:r>
              <a:rPr lang="sv-SE" sz="2400" dirty="0"/>
              <a:t> must be </a:t>
            </a:r>
            <a:r>
              <a:rPr lang="sv-SE" sz="2400" dirty="0" err="1"/>
              <a:t>kept</a:t>
            </a:r>
            <a:endParaRPr lang="sv-SE" sz="2400" dirty="0"/>
          </a:p>
          <a:p>
            <a:pPr lvl="1"/>
            <a:r>
              <a:rPr lang="sv-SE" sz="2000" dirty="0" err="1"/>
              <a:t>Examiner</a:t>
            </a:r>
            <a:r>
              <a:rPr lang="sv-SE" sz="2000" dirty="0"/>
              <a:t> </a:t>
            </a:r>
            <a:r>
              <a:rPr lang="sv-SE" sz="2000" dirty="0" err="1"/>
              <a:t>evaluates</a:t>
            </a:r>
            <a:r>
              <a:rPr lang="sv-SE" sz="2000" dirty="0"/>
              <a:t> the </a:t>
            </a:r>
            <a:r>
              <a:rPr lang="sv-SE" sz="2000" dirty="0" err="1"/>
              <a:t>thesis</a:t>
            </a:r>
            <a:r>
              <a:rPr lang="sv-SE" sz="2000" dirty="0"/>
              <a:t> version </a:t>
            </a:r>
            <a:r>
              <a:rPr lang="sv-SE" sz="2000" b="1" dirty="0" err="1"/>
              <a:t>after</a:t>
            </a:r>
            <a:r>
              <a:rPr lang="sv-SE" sz="2000" dirty="0"/>
              <a:t> </a:t>
            </a:r>
            <a:r>
              <a:rPr lang="sv-SE" sz="2000" dirty="0" err="1"/>
              <a:t>masking</a:t>
            </a:r>
            <a:endParaRPr lang="sv-SE" sz="2000" dirty="0"/>
          </a:p>
          <a:p>
            <a:pPr lvl="1"/>
            <a:r>
              <a:rPr lang="sv-SE" sz="2000" dirty="0" err="1"/>
              <a:t>Examiners</a:t>
            </a:r>
            <a:r>
              <a:rPr lang="sv-SE" sz="2000" dirty="0"/>
              <a:t> do not </a:t>
            </a:r>
            <a:r>
              <a:rPr lang="sv-SE" sz="2000" dirty="0" err="1"/>
              <a:t>sign</a:t>
            </a:r>
            <a:r>
              <a:rPr lang="sv-SE" sz="2000" dirty="0"/>
              <a:t> NDA</a:t>
            </a:r>
            <a:endParaRPr lang="sv-SE" sz="2000" dirty="0"/>
          </a:p>
          <a:p>
            <a:pPr lvl="1"/>
            <a:r>
              <a:rPr lang="sv-SE" sz="2000" dirty="0"/>
              <a:t>Supervisors </a:t>
            </a:r>
            <a:r>
              <a:rPr lang="sv-SE" sz="2000" dirty="0" err="1"/>
              <a:t>may</a:t>
            </a:r>
            <a:r>
              <a:rPr lang="sv-SE" sz="2000" dirty="0"/>
              <a:t> </a:t>
            </a:r>
            <a:r>
              <a:rPr lang="sv-SE" sz="2000" dirty="0" err="1"/>
              <a:t>choose</a:t>
            </a:r>
            <a:r>
              <a:rPr lang="sv-SE" sz="2000" dirty="0"/>
              <a:t> to </a:t>
            </a:r>
            <a:r>
              <a:rPr lang="sv-SE" sz="2000" dirty="0" err="1"/>
              <a:t>sign</a:t>
            </a:r>
            <a:r>
              <a:rPr lang="sv-SE" sz="2000" dirty="0"/>
              <a:t> NDA </a:t>
            </a:r>
            <a:r>
              <a:rPr lang="sv-SE" sz="2000" dirty="0" err="1"/>
              <a:t>but</a:t>
            </a:r>
            <a:r>
              <a:rPr lang="sv-SE" sz="2000" dirty="0"/>
              <a:t> </a:t>
            </a:r>
            <a:r>
              <a:rPr lang="sv-SE" sz="2000" dirty="0" err="1"/>
              <a:t>they</a:t>
            </a:r>
            <a:r>
              <a:rPr lang="sv-SE" sz="2000" dirty="0"/>
              <a:t> </a:t>
            </a:r>
            <a:r>
              <a:rPr lang="sv-SE" sz="2000" dirty="0" err="1"/>
              <a:t>don’t</a:t>
            </a:r>
            <a:r>
              <a:rPr lang="sv-SE" sz="2000" dirty="0"/>
              <a:t> </a:t>
            </a:r>
            <a:r>
              <a:rPr lang="sv-SE" sz="2000" dirty="0" err="1"/>
              <a:t>have</a:t>
            </a:r>
            <a:r>
              <a:rPr lang="sv-SE" sz="2000" dirty="0"/>
              <a:t> to</a:t>
            </a:r>
            <a:endParaRPr lang="sv-SE" sz="2000" dirty="0"/>
          </a:p>
          <a:p>
            <a:pPr lvl="1"/>
            <a:r>
              <a:rPr lang="sv-SE" sz="2000" dirty="0" err="1"/>
              <a:t>Participants</a:t>
            </a:r>
            <a:r>
              <a:rPr lang="sv-SE" sz="2000" dirty="0"/>
              <a:t> </a:t>
            </a:r>
            <a:r>
              <a:rPr lang="sv-SE" sz="2000" dirty="0" err="1"/>
              <a:t>of</a:t>
            </a:r>
            <a:r>
              <a:rPr lang="sv-SE" sz="2000" dirty="0"/>
              <a:t> the </a:t>
            </a:r>
            <a:r>
              <a:rPr lang="sv-SE" sz="2000" dirty="0" err="1"/>
              <a:t>mandatory</a:t>
            </a:r>
            <a:r>
              <a:rPr lang="sv-SE" sz="2000" dirty="0"/>
              <a:t> sessions do not </a:t>
            </a:r>
            <a:r>
              <a:rPr lang="sv-SE" sz="2000" dirty="0" err="1"/>
              <a:t>sign</a:t>
            </a:r>
            <a:r>
              <a:rPr lang="sv-SE" sz="2000" dirty="0"/>
              <a:t> NDA</a:t>
            </a:r>
            <a:r>
              <a:rPr lang="sv-SE" sz="2000" dirty="0">
                <a:sym typeface="Wingdings" panose="05000000000000000000" pitchFamily="2" charset="2"/>
              </a:rPr>
              <a:t> </a:t>
            </a:r>
            <a:r>
              <a:rPr lang="sv-SE" sz="2000" dirty="0" err="1">
                <a:sym typeface="Wingdings" panose="05000000000000000000" pitchFamily="2" charset="2"/>
              </a:rPr>
              <a:t>adjust</a:t>
            </a:r>
            <a:r>
              <a:rPr lang="sv-SE" sz="2000" dirty="0">
                <a:sym typeface="Wingdings" panose="05000000000000000000" pitchFamily="2" charset="2"/>
              </a:rPr>
              <a:t> </a:t>
            </a:r>
            <a:r>
              <a:rPr lang="sv-SE" sz="2000" dirty="0" err="1">
                <a:sym typeface="Wingdings" panose="05000000000000000000" pitchFamily="2" charset="2"/>
              </a:rPr>
              <a:t>your</a:t>
            </a:r>
            <a:r>
              <a:rPr lang="sv-SE" sz="2000" dirty="0">
                <a:sym typeface="Wingdings" panose="05000000000000000000" pitchFamily="2" charset="2"/>
              </a:rPr>
              <a:t> presentations!</a:t>
            </a:r>
            <a:endParaRPr lang="sv-SE" sz="2000" dirty="0">
              <a:sym typeface="Wingdings" panose="05000000000000000000" pitchFamily="2" charset="2"/>
            </a:endParaRPr>
          </a:p>
          <a:p>
            <a:pPr lvl="1"/>
            <a:r>
              <a:rPr lang="sv-SE" sz="2000" b="1" dirty="0">
                <a:solidFill>
                  <a:srgbClr val="FF0000"/>
                </a:solidFill>
                <a:sym typeface="Wingdings" panose="05000000000000000000" pitchFamily="2" charset="2"/>
              </a:rPr>
              <a:t>For </a:t>
            </a:r>
            <a:r>
              <a:rPr lang="sv-SE" sz="2000" b="1" dirty="0" err="1">
                <a:solidFill>
                  <a:srgbClr val="FF0000"/>
                </a:solidFill>
                <a:sym typeface="Wingdings" panose="05000000000000000000" pitchFamily="2" charset="2"/>
              </a:rPr>
              <a:t>getting</a:t>
            </a:r>
            <a:r>
              <a:rPr lang="sv-SE" sz="2000" b="1" dirty="0">
                <a:solidFill>
                  <a:srgbClr val="FF0000"/>
                </a:solidFill>
                <a:sym typeface="Wingdings" panose="05000000000000000000" pitchFamily="2" charset="2"/>
              </a:rPr>
              <a:t> a </a:t>
            </a:r>
            <a:r>
              <a:rPr lang="sv-SE" sz="2000" b="1" dirty="0" err="1">
                <a:solidFill>
                  <a:srgbClr val="FF0000"/>
                </a:solidFill>
                <a:sym typeface="Wingdings" panose="05000000000000000000" pitchFamily="2" charset="2"/>
              </a:rPr>
              <a:t>grade</a:t>
            </a:r>
            <a:r>
              <a:rPr lang="sv-SE" sz="2000" b="1" dirty="0">
                <a:solidFill>
                  <a:srgbClr val="FF0000"/>
                </a:solidFill>
                <a:sym typeface="Wingdings" panose="05000000000000000000" pitchFamily="2" charset="2"/>
              </a:rPr>
              <a:t>, it is </a:t>
            </a:r>
            <a:r>
              <a:rPr lang="sv-SE" sz="2000" b="1" dirty="0" err="1">
                <a:solidFill>
                  <a:srgbClr val="FF0000"/>
                </a:solidFill>
                <a:sym typeface="Wingdings" panose="05000000000000000000" pitchFamily="2" charset="2"/>
              </a:rPr>
              <a:t>required</a:t>
            </a:r>
            <a:r>
              <a:rPr lang="sv-SE" sz="2000" b="1" dirty="0">
                <a:solidFill>
                  <a:srgbClr val="FF0000"/>
                </a:solidFill>
                <a:sym typeface="Wingdings" panose="05000000000000000000" pitchFamily="2" charset="2"/>
              </a:rPr>
              <a:t> to </a:t>
            </a:r>
            <a:r>
              <a:rPr lang="sv-SE" sz="2000" b="1" dirty="0" err="1">
                <a:solidFill>
                  <a:srgbClr val="FF0000"/>
                </a:solidFill>
                <a:sym typeface="Wingdings" panose="05000000000000000000" pitchFamily="2" charset="2"/>
              </a:rPr>
              <a:t>publish</a:t>
            </a:r>
            <a:r>
              <a:rPr lang="sv-SE" sz="2000" b="1" dirty="0">
                <a:solidFill>
                  <a:srgbClr val="FF0000"/>
                </a:solidFill>
                <a:sym typeface="Wingdings" panose="05000000000000000000" pitchFamily="2" charset="2"/>
              </a:rPr>
              <a:t> the </a:t>
            </a:r>
            <a:r>
              <a:rPr lang="sv-SE" sz="2000" b="1" dirty="0" err="1">
                <a:solidFill>
                  <a:srgbClr val="FF0000"/>
                </a:solidFill>
                <a:sym typeface="Wingdings" panose="05000000000000000000" pitchFamily="2" charset="2"/>
              </a:rPr>
              <a:t>thesis</a:t>
            </a:r>
            <a:r>
              <a:rPr lang="sv-SE" sz="2000" b="1" dirty="0">
                <a:solidFill>
                  <a:srgbClr val="FF0000"/>
                </a:solidFill>
                <a:sym typeface="Wingdings" panose="05000000000000000000" pitchFamily="2" charset="2"/>
              </a:rPr>
              <a:t> </a:t>
            </a:r>
            <a:r>
              <a:rPr lang="sv-SE" sz="2000" dirty="0">
                <a:sym typeface="Wingdings" panose="05000000000000000000" pitchFamily="2" charset="2"/>
              </a:rPr>
              <a:t>(at </a:t>
            </a:r>
            <a:r>
              <a:rPr lang="sv-SE" sz="2000" dirty="0" err="1">
                <a:sym typeface="Wingdings" panose="05000000000000000000" pitchFamily="2" charset="2"/>
              </a:rPr>
              <a:t>least</a:t>
            </a:r>
            <a:r>
              <a:rPr lang="sv-SE" sz="2000" dirty="0">
                <a:sym typeface="Wingdings" panose="05000000000000000000" pitchFamily="2" charset="2"/>
              </a:rPr>
              <a:t> in </a:t>
            </a:r>
            <a:r>
              <a:rPr lang="sv-SE" sz="2000" dirty="0" err="1">
                <a:sym typeface="Wingdings" panose="05000000000000000000" pitchFamily="2" charset="2"/>
              </a:rPr>
              <a:t>LiUs</a:t>
            </a:r>
            <a:r>
              <a:rPr lang="sv-SE" sz="2000" dirty="0">
                <a:sym typeface="Wingdings" panose="05000000000000000000" pitchFamily="2" charset="2"/>
              </a:rPr>
              <a:t> system </a:t>
            </a:r>
            <a:r>
              <a:rPr lang="sv-SE" sz="2000" dirty="0" err="1">
                <a:sym typeface="Wingdings" panose="05000000000000000000" pitchFamily="2" charset="2"/>
              </a:rPr>
              <a:t>WexUpp</a:t>
            </a:r>
            <a:r>
              <a:rPr lang="sv-SE" sz="2000" dirty="0">
                <a:sym typeface="Wingdings" panose="05000000000000000000" pitchFamily="2" charset="2"/>
              </a:rPr>
              <a:t>)</a:t>
            </a:r>
            <a:endParaRPr lang="sv-SE" sz="2000" dirty="0"/>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noAutofit/>
          </a:bodyPr>
          <a:lstStyle/>
          <a:p>
            <a:r>
              <a:rPr lang="sv-SE" sz="2800" dirty="0"/>
              <a:t>Part 1: Problem </a:t>
            </a:r>
            <a:r>
              <a:rPr lang="sv-SE" sz="2800" dirty="0" err="1"/>
              <a:t>formulation</a:t>
            </a:r>
            <a:r>
              <a:rPr lang="sv-SE" sz="2800" dirty="0"/>
              <a:t> and </a:t>
            </a:r>
            <a:r>
              <a:rPr lang="sv-SE" sz="2800" dirty="0" err="1"/>
              <a:t>literature</a:t>
            </a:r>
            <a:r>
              <a:rPr lang="sv-SE" sz="2800" dirty="0"/>
              <a:t> </a:t>
            </a:r>
            <a:r>
              <a:rPr lang="sv-SE" sz="2800" dirty="0" err="1"/>
              <a:t>review</a:t>
            </a:r>
            <a:endParaRPr lang="sv-SE" sz="2800" dirty="0"/>
          </a:p>
        </p:txBody>
      </p:sp>
      <p:sp>
        <p:nvSpPr>
          <p:cNvPr id="3" name="Platshållare för innehåll 2"/>
          <p:cNvSpPr>
            <a:spLocks noGrp="1"/>
          </p:cNvSpPr>
          <p:nvPr>
            <p:ph idx="1"/>
          </p:nvPr>
        </p:nvSpPr>
        <p:spPr>
          <a:xfrm>
            <a:off x="457200" y="1600200"/>
            <a:ext cx="8229600" cy="4756150"/>
          </a:xfrm>
        </p:spPr>
        <p:txBody>
          <a:bodyPr>
            <a:normAutofit fontScale="55000" lnSpcReduction="20000"/>
          </a:bodyPr>
          <a:lstStyle/>
          <a:p>
            <a:endParaRPr lang="sv-SE" sz="2000" dirty="0"/>
          </a:p>
          <a:p>
            <a:endParaRPr lang="sv-SE" sz="2000" dirty="0"/>
          </a:p>
          <a:p>
            <a:endParaRPr lang="sv-SE" sz="2000" dirty="0"/>
          </a:p>
          <a:p>
            <a:endParaRPr lang="sv-SE" sz="2000" dirty="0"/>
          </a:p>
          <a:p>
            <a:endParaRPr lang="sv-SE" sz="2000" dirty="0"/>
          </a:p>
          <a:p>
            <a:r>
              <a:rPr lang="sv-SE" sz="3200" b="1" dirty="0" err="1">
                <a:solidFill>
                  <a:srgbClr val="0000FF"/>
                </a:solidFill>
              </a:rPr>
              <a:t>Time</a:t>
            </a:r>
            <a:r>
              <a:rPr lang="sv-SE" sz="3200" b="1" dirty="0">
                <a:solidFill>
                  <a:srgbClr val="0000FF"/>
                </a:solidFill>
              </a:rPr>
              <a:t> </a:t>
            </a:r>
            <a:r>
              <a:rPr lang="sv-SE" sz="3200" b="1" dirty="0" err="1">
                <a:solidFill>
                  <a:srgbClr val="0000FF"/>
                </a:solidFill>
              </a:rPr>
              <a:t>frame</a:t>
            </a:r>
            <a:r>
              <a:rPr lang="sv-SE" sz="3200" b="1" dirty="0">
                <a:solidFill>
                  <a:srgbClr val="0000FF"/>
                </a:solidFill>
              </a:rPr>
              <a:t>: </a:t>
            </a:r>
            <a:r>
              <a:rPr lang="sv-SE" sz="3200" b="1" dirty="0" err="1">
                <a:solidFill>
                  <a:srgbClr val="0000FF"/>
                </a:solidFill>
              </a:rPr>
              <a:t>Now</a:t>
            </a:r>
            <a:r>
              <a:rPr lang="sv-SE" sz="3200" b="1" dirty="0">
                <a:solidFill>
                  <a:srgbClr val="0000FF"/>
                </a:solidFill>
              </a:rPr>
              <a:t> - </a:t>
            </a:r>
            <a:r>
              <a:rPr lang="sv-SE" sz="3200" b="1" dirty="0" err="1">
                <a:solidFill>
                  <a:srgbClr val="0000FF"/>
                </a:solidFill>
              </a:rPr>
              <a:t>thesis</a:t>
            </a:r>
            <a:r>
              <a:rPr lang="sv-SE" sz="3200" b="1" dirty="0">
                <a:solidFill>
                  <a:srgbClr val="0000FF"/>
                </a:solidFill>
              </a:rPr>
              <a:t> </a:t>
            </a:r>
            <a:r>
              <a:rPr lang="sv-SE" sz="3200" b="1" dirty="0" err="1">
                <a:solidFill>
                  <a:srgbClr val="0000FF"/>
                </a:solidFill>
              </a:rPr>
              <a:t>proposal</a:t>
            </a:r>
            <a:r>
              <a:rPr lang="sv-SE" sz="3200" b="1" dirty="0">
                <a:solidFill>
                  <a:srgbClr val="0000FF"/>
                </a:solidFill>
              </a:rPr>
              <a:t> </a:t>
            </a:r>
            <a:r>
              <a:rPr lang="sv-SE" sz="3200" b="1" dirty="0" err="1">
                <a:solidFill>
                  <a:srgbClr val="0000FF"/>
                </a:solidFill>
              </a:rPr>
              <a:t>seminar</a:t>
            </a:r>
            <a:endParaRPr lang="sv-SE" sz="3200" b="1" dirty="0">
              <a:solidFill>
                <a:srgbClr val="0000FF"/>
              </a:solidFill>
            </a:endParaRPr>
          </a:p>
          <a:p>
            <a:endParaRPr lang="en-US" dirty="0"/>
          </a:p>
          <a:p>
            <a:r>
              <a:rPr lang="en-US" sz="3300" dirty="0"/>
              <a:t>Make a careful review of the background to your problem, available data and the specific questions put by the company/internal supervisor.</a:t>
            </a:r>
            <a:endParaRPr lang="en-US" sz="3300" dirty="0"/>
          </a:p>
          <a:p>
            <a:r>
              <a:rPr lang="en-US" sz="3300" dirty="0"/>
              <a:t>Put your work in a scientific context</a:t>
            </a:r>
            <a:endParaRPr lang="en-US" sz="3300" dirty="0"/>
          </a:p>
          <a:p>
            <a:pPr lvl="1"/>
            <a:r>
              <a:rPr lang="en-US" sz="2900" dirty="0"/>
              <a:t>Has anyone studied your kind of problem previously? Which methods were used?</a:t>
            </a:r>
            <a:endParaRPr lang="en-US" sz="2900" dirty="0"/>
          </a:p>
          <a:p>
            <a:pPr lvl="1"/>
            <a:r>
              <a:rPr lang="en-US" sz="2900" dirty="0"/>
              <a:t>Are there studies of similar problems?</a:t>
            </a:r>
            <a:endParaRPr lang="en-US" sz="2900" dirty="0"/>
          </a:p>
          <a:p>
            <a:pPr lvl="1"/>
            <a:r>
              <a:rPr lang="en-US" sz="2900" dirty="0"/>
              <a:t>What lessons can be learnt?</a:t>
            </a:r>
            <a:endParaRPr lang="en-US" sz="2900" dirty="0"/>
          </a:p>
          <a:p>
            <a:pPr lvl="1"/>
            <a:r>
              <a:rPr lang="en-US" sz="2900" dirty="0"/>
              <a:t>What is new in your study?</a:t>
            </a:r>
            <a:endParaRPr lang="en-US" sz="2900" dirty="0"/>
          </a:p>
          <a:p>
            <a:pPr lvl="1"/>
            <a:r>
              <a:rPr lang="en-US" sz="2900" dirty="0"/>
              <a:t>Why did you choose a certain model/method/algorithm? Which are alternatives?</a:t>
            </a:r>
            <a:endParaRPr lang="en-US" sz="2900" dirty="0"/>
          </a:p>
          <a:p>
            <a:endParaRPr lang="en-US" sz="3300" dirty="0"/>
          </a:p>
          <a:p>
            <a:r>
              <a:rPr lang="en-US" sz="3300" dirty="0"/>
              <a:t>Put focus on the literature review</a:t>
            </a:r>
            <a:r>
              <a:rPr lang="en-US" sz="3300" dirty="0">
                <a:sym typeface="Wingdings" panose="05000000000000000000" pitchFamily="2" charset="2"/>
              </a:rPr>
              <a:t> Google, Google, Google…</a:t>
            </a:r>
            <a:endParaRPr lang="en-US" sz="3300" dirty="0"/>
          </a:p>
          <a:p>
            <a:r>
              <a:rPr lang="en-US" sz="3300" dirty="0"/>
              <a:t>Suggest potential methods to solve your research questions and discuss them with the supervisor</a:t>
            </a:r>
            <a:endParaRPr lang="en-US" sz="3300" dirty="0"/>
          </a:p>
          <a:p>
            <a:r>
              <a:rPr lang="en-US" sz="3300" dirty="0"/>
              <a:t>Prepare for your Thesis Proposal Seminar (oral with slides).</a:t>
            </a:r>
            <a:endParaRPr lang="sv-SE" sz="2500" dirty="0"/>
          </a:p>
        </p:txBody>
      </p:sp>
      <p:sp>
        <p:nvSpPr>
          <p:cNvPr id="4" name="Platshållare för sidfot 3"/>
          <p:cNvSpPr>
            <a:spLocks noGrp="1"/>
          </p:cNvSpPr>
          <p:nvPr>
            <p:ph type="ftr" sz="quarter" idx="11"/>
          </p:nvPr>
        </p:nvSpPr>
        <p:spPr/>
        <p:txBody>
          <a:bodyPr/>
          <a:lstStyle/>
          <a:p>
            <a:r>
              <a:rPr lang="sv-SE"/>
              <a:t>732A64</a:t>
            </a:r>
            <a:endParaRPr lang="sv-SE" dirty="0"/>
          </a:p>
        </p:txBody>
      </p:sp>
      <p:graphicFrame>
        <p:nvGraphicFramePr>
          <p:cNvPr id="9" name="Table 8"/>
          <p:cNvGraphicFramePr>
            <a:graphicFrameLocks noGrp="1"/>
          </p:cNvGraphicFramePr>
          <p:nvPr/>
        </p:nvGraphicFramePr>
        <p:xfrm>
          <a:off x="232419" y="1700808"/>
          <a:ext cx="8911581" cy="741558"/>
        </p:xfrm>
        <a:graphic>
          <a:graphicData uri="http://schemas.openxmlformats.org/drawingml/2006/table">
            <a:tbl>
              <a:tblPr firstRow="1" firstCol="1" bandRow="1">
                <a:tableStyleId>{5C22544A-7EE6-4342-B048-85BDC9FD1C3A}</a:tableStyleId>
              </a:tblPr>
              <a:tblGrid>
                <a:gridCol w="1454952"/>
                <a:gridCol w="7456629"/>
              </a:tblGrid>
              <a:tr h="167567">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67567">
                <a:tc>
                  <a:txBody>
                    <a:bodyPr/>
                    <a:lstStyle/>
                    <a:p>
                      <a:pPr>
                        <a:lnSpc>
                          <a:spcPct val="107000"/>
                        </a:lnSpc>
                        <a:spcAft>
                          <a:spcPts val="800"/>
                        </a:spcAft>
                        <a:buNone/>
                      </a:pPr>
                      <a:r>
                        <a:rPr lang="sv-SE" sz="1100" kern="100" dirty="0" err="1">
                          <a:effectLst/>
                        </a:rPr>
                        <a:t>January</a:t>
                      </a:r>
                      <a:r>
                        <a:rPr lang="sv-SE" sz="1100" kern="100" dirty="0">
                          <a:effectLst/>
                        </a:rPr>
                        <a:t> 20</a:t>
                      </a: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en-GB" sz="1100" kern="100">
                          <a:effectLst/>
                        </a:rPr>
                        <a:t>Introductory meeting. At 10.15 in Alan Turing, E-house</a:t>
                      </a: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67567">
                <a:tc>
                  <a:txBody>
                    <a:bodyPr/>
                    <a:lstStyle/>
                    <a:p>
                      <a:pPr>
                        <a:lnSpc>
                          <a:spcPct val="107000"/>
                        </a:lnSpc>
                        <a:spcAft>
                          <a:spcPts val="800"/>
                        </a:spcAft>
                        <a:buNone/>
                      </a:pPr>
                      <a:r>
                        <a:rPr lang="sv-SE" sz="1100" kern="100" dirty="0" err="1">
                          <a:effectLst/>
                        </a:rPr>
                        <a:t>February</a:t>
                      </a:r>
                      <a:r>
                        <a:rPr lang="sv-SE" sz="1100" kern="100" dirty="0">
                          <a:effectLst/>
                        </a:rPr>
                        <a:t> 1</a:t>
                      </a: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en-GB" sz="1100" kern="100" dirty="0">
                          <a:effectLst/>
                        </a:rPr>
                        <a:t>Submitting thesis proposal presentation to LISAM</a:t>
                      </a: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227208">
                <a:tc>
                  <a:txBody>
                    <a:bodyPr/>
                    <a:lstStyle/>
                    <a:p>
                      <a:pPr>
                        <a:lnSpc>
                          <a:spcPct val="107000"/>
                        </a:lnSpc>
                        <a:spcAft>
                          <a:spcPts val="800"/>
                        </a:spcAft>
                        <a:buNone/>
                      </a:pPr>
                      <a:r>
                        <a:rPr lang="sv-SE" sz="1100" b="1" kern="100" dirty="0" err="1">
                          <a:effectLst/>
                        </a:rPr>
                        <a:t>February</a:t>
                      </a:r>
                      <a:r>
                        <a:rPr lang="sv-SE" sz="1100" b="1" kern="100" dirty="0">
                          <a:effectLst/>
                        </a:rPr>
                        <a:t> 6 and 9</a:t>
                      </a:r>
                      <a:endParaRPr lang="sv-SE" sz="1100" b="1"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sv-SE" sz="1100" b="1" kern="100" dirty="0" err="1">
                          <a:effectLst/>
                        </a:rPr>
                        <a:t>Thesis</a:t>
                      </a:r>
                      <a:r>
                        <a:rPr lang="sv-SE" sz="1100" b="1" kern="100" dirty="0">
                          <a:effectLst/>
                        </a:rPr>
                        <a:t> </a:t>
                      </a:r>
                      <a:r>
                        <a:rPr lang="sv-SE" sz="1100" b="1" kern="100" dirty="0" err="1">
                          <a:effectLst/>
                        </a:rPr>
                        <a:t>proposal</a:t>
                      </a:r>
                      <a:r>
                        <a:rPr lang="sv-SE" sz="1100" b="1" kern="100" dirty="0">
                          <a:effectLst/>
                        </a:rPr>
                        <a:t> </a:t>
                      </a:r>
                      <a:r>
                        <a:rPr lang="sv-SE" sz="1100" b="1" kern="100" dirty="0" err="1">
                          <a:effectLst/>
                        </a:rPr>
                        <a:t>seminar</a:t>
                      </a:r>
                      <a:r>
                        <a:rPr lang="sv-SE" sz="1100" b="1" kern="100" dirty="0">
                          <a:effectLst/>
                        </a:rPr>
                        <a:t>:</a:t>
                      </a:r>
                      <a:endParaRPr lang="sv-SE" sz="1100" b="1" kern="100" dirty="0">
                        <a:effectLst/>
                      </a:endParaRPr>
                    </a:p>
                  </a:txBody>
                  <a:tcPr marL="0" marR="0" marT="0" marB="0" anchor="ct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randombar(horizontal)">
                                      <p:cBhvr>
                                        <p:cTn id="7" dur="500"/>
                                        <p:tgtEl>
                                          <p:spTgt spid="3">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8" end="8"/>
                                            </p:txEl>
                                          </p:spTgt>
                                        </p:tgtEl>
                                        <p:attrNameLst>
                                          <p:attrName>style.visibility</p:attrName>
                                        </p:attrNameLst>
                                      </p:cBhvr>
                                      <p:to>
                                        <p:strVal val="visible"/>
                                      </p:to>
                                    </p:set>
                                    <p:animEffect transition="in" filter="randombar(horizontal)">
                                      <p:cBhvr>
                                        <p:cTn id="12" dur="500"/>
                                        <p:tgtEl>
                                          <p:spTgt spid="3">
                                            <p:txEl>
                                              <p:pRg st="8" end="8"/>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Effect transition="in" filter="randombar(horizontal)">
                                      <p:cBhvr>
                                        <p:cTn id="15" dur="500"/>
                                        <p:tgtEl>
                                          <p:spTgt spid="3">
                                            <p:txEl>
                                              <p:pRg st="9" end="9"/>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18" dur="500"/>
                                        <p:tgtEl>
                                          <p:spTgt spid="3">
                                            <p:txEl>
                                              <p:pRg st="10" end="10"/>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animEffect transition="in" filter="randombar(horizontal)">
                                      <p:cBhvr>
                                        <p:cTn id="21" dur="500"/>
                                        <p:tgtEl>
                                          <p:spTgt spid="3">
                                            <p:txEl>
                                              <p:pRg st="11" end="11"/>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3">
                                            <p:txEl>
                                              <p:pRg st="12" end="12"/>
                                            </p:txEl>
                                          </p:spTgt>
                                        </p:tgtEl>
                                        <p:attrNameLst>
                                          <p:attrName>style.visibility</p:attrName>
                                        </p:attrNameLst>
                                      </p:cBhvr>
                                      <p:to>
                                        <p:strVal val="visible"/>
                                      </p:to>
                                    </p:set>
                                    <p:animEffect transition="in" filter="randombar(horizontal)">
                                      <p:cBhvr>
                                        <p:cTn id="24" dur="500"/>
                                        <p:tgtEl>
                                          <p:spTgt spid="3">
                                            <p:txEl>
                                              <p:pRg st="12" end="12"/>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Effect transition="in" filter="randombar(horizontal)">
                                      <p:cBhvr>
                                        <p:cTn id="27" dur="500"/>
                                        <p:tgtEl>
                                          <p:spTgt spid="3">
                                            <p:txEl>
                                              <p:pRg st="13" end="1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3">
                                            <p:txEl>
                                              <p:pRg st="15" end="15"/>
                                            </p:txEl>
                                          </p:spTgt>
                                        </p:tgtEl>
                                        <p:attrNameLst>
                                          <p:attrName>style.visibility</p:attrName>
                                        </p:attrNameLst>
                                      </p:cBhvr>
                                      <p:to>
                                        <p:strVal val="visible"/>
                                      </p:to>
                                    </p:set>
                                    <p:animEffect transition="in" filter="randombar(horizontal)">
                                      <p:cBhvr>
                                        <p:cTn id="32" dur="500"/>
                                        <p:tgtEl>
                                          <p:spTgt spid="3">
                                            <p:txEl>
                                              <p:pRg st="15" end="1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3">
                                            <p:txEl>
                                              <p:pRg st="16" end="16"/>
                                            </p:txEl>
                                          </p:spTgt>
                                        </p:tgtEl>
                                        <p:attrNameLst>
                                          <p:attrName>style.visibility</p:attrName>
                                        </p:attrNameLst>
                                      </p:cBhvr>
                                      <p:to>
                                        <p:strVal val="visible"/>
                                      </p:to>
                                    </p:set>
                                    <p:animEffect transition="in" filter="randombar(horizontal)">
                                      <p:cBhvr>
                                        <p:cTn id="37" dur="500"/>
                                        <p:tgtEl>
                                          <p:spTgt spid="3">
                                            <p:txEl>
                                              <p:pRg st="16" end="1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3">
                                            <p:txEl>
                                              <p:pRg st="17" end="17"/>
                                            </p:txEl>
                                          </p:spTgt>
                                        </p:tgtEl>
                                        <p:attrNameLst>
                                          <p:attrName>style.visibility</p:attrName>
                                        </p:attrNameLst>
                                      </p:cBhvr>
                                      <p:to>
                                        <p:strVal val="visible"/>
                                      </p:to>
                                    </p:set>
                                    <p:animEffect transition="in" filter="randombar(horizontal)">
                                      <p:cBhvr>
                                        <p:cTn id="42" dur="500"/>
                                        <p:tgtEl>
                                          <p:spTgt spid="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err="1"/>
              <a:t>Thesis</a:t>
            </a:r>
            <a:r>
              <a:rPr lang="sv-SE" dirty="0"/>
              <a:t> </a:t>
            </a:r>
            <a:r>
              <a:rPr lang="sv-SE" dirty="0" err="1"/>
              <a:t>proposal</a:t>
            </a:r>
            <a:r>
              <a:rPr lang="sv-SE" dirty="0"/>
              <a:t> </a:t>
            </a:r>
            <a:r>
              <a:rPr lang="sv-SE" dirty="0" err="1"/>
              <a:t>seminar</a:t>
            </a:r>
            <a:endParaRPr lang="sv-SE" dirty="0"/>
          </a:p>
        </p:txBody>
      </p:sp>
      <p:sp>
        <p:nvSpPr>
          <p:cNvPr id="3" name="Platshållare för innehåll 2"/>
          <p:cNvSpPr>
            <a:spLocks noGrp="1"/>
          </p:cNvSpPr>
          <p:nvPr>
            <p:ph idx="1"/>
          </p:nvPr>
        </p:nvSpPr>
        <p:spPr>
          <a:xfrm>
            <a:off x="457200" y="1600200"/>
            <a:ext cx="8229600" cy="4853136"/>
          </a:xfrm>
        </p:spPr>
        <p:txBody>
          <a:bodyPr>
            <a:normAutofit/>
          </a:bodyPr>
          <a:lstStyle/>
          <a:p>
            <a:r>
              <a:rPr lang="en-US" sz="2000" dirty="0"/>
              <a:t>Each student presents his/her thesis topic </a:t>
            </a:r>
            <a:endParaRPr lang="en-US" sz="2000" dirty="0"/>
          </a:p>
          <a:p>
            <a:pPr lvl="1"/>
            <a:r>
              <a:rPr lang="en-US" sz="1600" dirty="0"/>
              <a:t>Data description</a:t>
            </a:r>
            <a:endParaRPr lang="en-US" sz="1600" dirty="0"/>
          </a:p>
          <a:p>
            <a:pPr lvl="1"/>
            <a:r>
              <a:rPr lang="en-US" sz="1600" dirty="0"/>
              <a:t>Background information and research questions</a:t>
            </a:r>
            <a:endParaRPr lang="en-US" sz="1600" dirty="0"/>
          </a:p>
          <a:p>
            <a:pPr lvl="1"/>
            <a:r>
              <a:rPr lang="en-US" sz="1600" dirty="0"/>
              <a:t>Potential methods to address the research questions</a:t>
            </a:r>
            <a:endParaRPr lang="en-US" sz="1600" dirty="0"/>
          </a:p>
          <a:p>
            <a:endParaRPr lang="sv-SE" sz="2000" dirty="0"/>
          </a:p>
          <a:p>
            <a:r>
              <a:rPr lang="sv-SE" sz="2000" dirty="0"/>
              <a:t>15 mins presentation + 10 mins </a:t>
            </a:r>
            <a:r>
              <a:rPr lang="sv-SE" sz="2000" dirty="0" err="1"/>
              <a:t>questions</a:t>
            </a:r>
            <a:endParaRPr lang="sv-SE" sz="2000" dirty="0"/>
          </a:p>
          <a:p>
            <a:endParaRPr lang="sv-SE" sz="2000" dirty="0"/>
          </a:p>
          <a:p>
            <a:r>
              <a:rPr lang="sv-SE" sz="2000" dirty="0" err="1"/>
              <a:t>You</a:t>
            </a:r>
            <a:r>
              <a:rPr lang="sv-SE" sz="2000" dirty="0"/>
              <a:t> </a:t>
            </a:r>
            <a:r>
              <a:rPr lang="sv-SE" sz="2000" dirty="0" err="1"/>
              <a:t>are</a:t>
            </a:r>
            <a:r>
              <a:rPr lang="sv-SE" sz="2000" dirty="0"/>
              <a:t> not </a:t>
            </a:r>
            <a:r>
              <a:rPr lang="sv-SE" sz="2000" dirty="0" err="1"/>
              <a:t>supposed</a:t>
            </a:r>
            <a:r>
              <a:rPr lang="sv-SE" sz="2000" dirty="0"/>
              <a:t> to </a:t>
            </a:r>
            <a:r>
              <a:rPr lang="sv-SE" sz="2000" dirty="0" err="1"/>
              <a:t>have</a:t>
            </a:r>
            <a:r>
              <a:rPr lang="sv-SE" sz="2000" dirty="0"/>
              <a:t> a </a:t>
            </a:r>
            <a:r>
              <a:rPr lang="sv-SE" sz="2000" dirty="0" err="1"/>
              <a:t>completely</a:t>
            </a:r>
            <a:r>
              <a:rPr lang="sv-SE" sz="2000" dirty="0"/>
              <a:t> </a:t>
            </a:r>
            <a:r>
              <a:rPr lang="sv-SE" sz="2000" dirty="0" err="1"/>
              <a:t>defined</a:t>
            </a:r>
            <a:r>
              <a:rPr lang="sv-SE" sz="2000" dirty="0"/>
              <a:t> </a:t>
            </a:r>
            <a:r>
              <a:rPr lang="sv-SE" sz="2000" dirty="0" err="1"/>
              <a:t>strategy</a:t>
            </a:r>
            <a:r>
              <a:rPr lang="sv-SE" sz="2000" dirty="0"/>
              <a:t>/plan for </a:t>
            </a:r>
            <a:r>
              <a:rPr lang="sv-SE" sz="2000" dirty="0" err="1"/>
              <a:t>your</a:t>
            </a:r>
            <a:r>
              <a:rPr lang="sv-SE" sz="2000" dirty="0"/>
              <a:t> </a:t>
            </a:r>
            <a:r>
              <a:rPr lang="sv-SE" sz="2000" dirty="0" err="1"/>
              <a:t>thesis</a:t>
            </a:r>
            <a:r>
              <a:rPr lang="sv-SE" sz="2000" dirty="0"/>
              <a:t> </a:t>
            </a:r>
            <a:r>
              <a:rPr lang="sv-SE" sz="2000" dirty="0" err="1"/>
              <a:t>work</a:t>
            </a:r>
            <a:r>
              <a:rPr lang="sv-SE" sz="2000" dirty="0"/>
              <a:t> at </a:t>
            </a:r>
            <a:r>
              <a:rPr lang="sv-SE" sz="2000" dirty="0" err="1"/>
              <a:t>this</a:t>
            </a:r>
            <a:r>
              <a:rPr lang="sv-SE" sz="2000" dirty="0"/>
              <a:t> </a:t>
            </a:r>
            <a:r>
              <a:rPr lang="sv-SE" sz="2000" dirty="0" err="1"/>
              <a:t>stage</a:t>
            </a:r>
            <a:endParaRPr lang="sv-SE" sz="2000" dirty="0"/>
          </a:p>
          <a:p>
            <a:endParaRPr lang="en-US" sz="2000" dirty="0"/>
          </a:p>
          <a:p>
            <a:r>
              <a:rPr lang="en-US" sz="2000" dirty="0"/>
              <a:t>W</a:t>
            </a:r>
            <a:r>
              <a:rPr lang="sv-SE" sz="2000" dirty="0"/>
              <a:t>hy putting on LISAM in </a:t>
            </a:r>
            <a:r>
              <a:rPr lang="sv-SE" sz="2000" dirty="0" err="1"/>
              <a:t>advance</a:t>
            </a:r>
            <a:r>
              <a:rPr lang="sv-SE" sz="2000" dirty="0"/>
              <a:t>? </a:t>
            </a:r>
            <a:endParaRPr lang="sv-SE" sz="2000" dirty="0"/>
          </a:p>
          <a:p>
            <a:pPr lvl="1"/>
            <a:r>
              <a:rPr lang="sv-SE" sz="1600" dirty="0"/>
              <a:t>Will be </a:t>
            </a:r>
            <a:r>
              <a:rPr lang="sv-SE" sz="1600" dirty="0" err="1"/>
              <a:t>checked</a:t>
            </a:r>
            <a:r>
              <a:rPr lang="sv-SE" sz="1600" dirty="0"/>
              <a:t> by the </a:t>
            </a:r>
            <a:r>
              <a:rPr lang="sv-SE" sz="1600" dirty="0" err="1"/>
              <a:t>examiner</a:t>
            </a:r>
            <a:r>
              <a:rPr lang="sv-SE" sz="1600" dirty="0">
                <a:sym typeface="Wingdings" panose="05000000000000000000" pitchFamily="2" charset="2"/>
              </a:rPr>
              <a:t> </a:t>
            </a:r>
            <a:r>
              <a:rPr lang="sv-SE" sz="1600" dirty="0" err="1">
                <a:sym typeface="Wingdings" panose="05000000000000000000" pitchFamily="2" charset="2"/>
              </a:rPr>
              <a:t>Better</a:t>
            </a:r>
            <a:r>
              <a:rPr lang="sv-SE" sz="1600" dirty="0">
                <a:sym typeface="Wingdings" panose="05000000000000000000" pitchFamily="2" charset="2"/>
              </a:rPr>
              <a:t> feedback </a:t>
            </a:r>
            <a:r>
              <a:rPr lang="sv-SE" sz="1600" dirty="0" err="1">
                <a:sym typeface="Wingdings" panose="05000000000000000000" pitchFamily="2" charset="2"/>
              </a:rPr>
              <a:t>opportunities</a:t>
            </a:r>
            <a:endParaRPr lang="sv-SE" sz="1600" dirty="0"/>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randombar(horizontal)">
                                      <p:cBhvr>
                                        <p:cTn id="7" dur="500"/>
                                        <p:tgtEl>
                                          <p:spTgt spid="3">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9" end="9"/>
                                            </p:txEl>
                                          </p:spTgt>
                                        </p:tgtEl>
                                        <p:attrNameLst>
                                          <p:attrName>style.visibility</p:attrName>
                                        </p:attrNameLst>
                                      </p:cBhvr>
                                      <p:to>
                                        <p:strVal val="visible"/>
                                      </p:to>
                                    </p:set>
                                    <p:animEffect transition="in" filter="randombar(horizontal)">
                                      <p:cBhvr>
                                        <p:cTn id="12" dur="500"/>
                                        <p:tgtEl>
                                          <p:spTgt spid="3">
                                            <p:txEl>
                                              <p:pRg st="9" end="9"/>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1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err="1"/>
              <a:t>Thesis</a:t>
            </a:r>
            <a:r>
              <a:rPr lang="sv-SE" dirty="0"/>
              <a:t> </a:t>
            </a:r>
            <a:r>
              <a:rPr lang="sv-SE" dirty="0" err="1"/>
              <a:t>proposal</a:t>
            </a:r>
            <a:r>
              <a:rPr lang="sv-SE" dirty="0"/>
              <a:t> </a:t>
            </a:r>
            <a:r>
              <a:rPr lang="sv-SE" dirty="0" err="1"/>
              <a:t>seminar</a:t>
            </a:r>
            <a:endParaRPr lang="sv-SE" dirty="0"/>
          </a:p>
        </p:txBody>
      </p:sp>
      <p:sp>
        <p:nvSpPr>
          <p:cNvPr id="3" name="Platshållare för innehåll 2"/>
          <p:cNvSpPr>
            <a:spLocks noGrp="1"/>
          </p:cNvSpPr>
          <p:nvPr>
            <p:ph idx="1"/>
          </p:nvPr>
        </p:nvSpPr>
        <p:spPr/>
        <p:txBody>
          <a:bodyPr>
            <a:normAutofit fontScale="92500" lnSpcReduction="10000"/>
          </a:bodyPr>
          <a:lstStyle/>
          <a:p>
            <a:r>
              <a:rPr lang="sv-SE" sz="2000" dirty="0" err="1"/>
              <a:t>Thesis</a:t>
            </a:r>
            <a:r>
              <a:rPr lang="sv-SE" sz="2000" dirty="0"/>
              <a:t> </a:t>
            </a:r>
            <a:r>
              <a:rPr lang="sv-SE" sz="2000" dirty="0" err="1"/>
              <a:t>proposal</a:t>
            </a:r>
            <a:r>
              <a:rPr lang="sv-SE" sz="2000" dirty="0"/>
              <a:t> is </a:t>
            </a:r>
            <a:r>
              <a:rPr lang="sv-SE" sz="2000" dirty="0" err="1"/>
              <a:t>meant</a:t>
            </a:r>
            <a:r>
              <a:rPr lang="sv-SE" sz="2000" dirty="0"/>
              <a:t> to </a:t>
            </a:r>
            <a:r>
              <a:rPr lang="sv-SE" sz="2000" dirty="0" err="1"/>
              <a:t>help</a:t>
            </a:r>
            <a:r>
              <a:rPr lang="sv-SE" sz="2000" dirty="0"/>
              <a:t> </a:t>
            </a:r>
            <a:r>
              <a:rPr lang="sv-SE" sz="2000" dirty="0" err="1"/>
              <a:t>you</a:t>
            </a:r>
            <a:r>
              <a:rPr lang="sv-SE" sz="2000" dirty="0"/>
              <a:t> </a:t>
            </a:r>
            <a:r>
              <a:rPr lang="sv-SE" sz="2000" dirty="0" err="1"/>
              <a:t>with</a:t>
            </a:r>
            <a:r>
              <a:rPr lang="sv-SE" sz="2000" dirty="0"/>
              <a:t> </a:t>
            </a:r>
            <a:r>
              <a:rPr lang="sv-SE" sz="2000" dirty="0" err="1"/>
              <a:t>your</a:t>
            </a:r>
            <a:r>
              <a:rPr lang="sv-SE" sz="2000" dirty="0"/>
              <a:t> research </a:t>
            </a:r>
            <a:r>
              <a:rPr lang="sv-SE" sz="2000" dirty="0" err="1"/>
              <a:t>questions</a:t>
            </a:r>
            <a:r>
              <a:rPr lang="sv-SE" sz="2000" dirty="0"/>
              <a:t> </a:t>
            </a:r>
            <a:r>
              <a:rPr lang="sv-SE" sz="2000" dirty="0">
                <a:sym typeface="Wingdings" panose="05000000000000000000" pitchFamily="2" charset="2"/>
              </a:rPr>
              <a:t> </a:t>
            </a:r>
            <a:r>
              <a:rPr lang="sv-SE" sz="2000" dirty="0" err="1">
                <a:sym typeface="Wingdings" panose="05000000000000000000" pitchFamily="2" charset="2"/>
              </a:rPr>
              <a:t>completely</a:t>
            </a:r>
            <a:r>
              <a:rPr lang="sv-SE" sz="2000" dirty="0">
                <a:sym typeface="Wingdings" panose="05000000000000000000" pitchFamily="2" charset="2"/>
              </a:rPr>
              <a:t> OK </a:t>
            </a:r>
            <a:r>
              <a:rPr lang="sv-SE" sz="2000" dirty="0" err="1">
                <a:sym typeface="Wingdings" panose="05000000000000000000" pitchFamily="2" charset="2"/>
              </a:rPr>
              <a:t>if</a:t>
            </a:r>
            <a:r>
              <a:rPr lang="sv-SE" sz="2000" dirty="0">
                <a:sym typeface="Wingdings" panose="05000000000000000000" pitchFamily="2" charset="2"/>
              </a:rPr>
              <a:t> </a:t>
            </a:r>
            <a:r>
              <a:rPr lang="sv-SE" sz="2000" dirty="0" err="1">
                <a:sym typeface="Wingdings" panose="05000000000000000000" pitchFamily="2" charset="2"/>
              </a:rPr>
              <a:t>you</a:t>
            </a:r>
            <a:r>
              <a:rPr lang="sv-SE" sz="2000" dirty="0">
                <a:sym typeface="Wingdings" panose="05000000000000000000" pitchFamily="2" charset="2"/>
              </a:rPr>
              <a:t> </a:t>
            </a:r>
            <a:r>
              <a:rPr lang="sv-SE" sz="2000" dirty="0" err="1">
                <a:sym typeface="Wingdings" panose="05000000000000000000" pitchFamily="2" charset="2"/>
              </a:rPr>
              <a:t>don’t</a:t>
            </a:r>
            <a:r>
              <a:rPr lang="sv-SE" sz="2000" dirty="0">
                <a:sym typeface="Wingdings" panose="05000000000000000000" pitchFamily="2" charset="2"/>
              </a:rPr>
              <a:t> </a:t>
            </a:r>
            <a:r>
              <a:rPr lang="sv-SE" sz="2000" dirty="0" err="1">
                <a:sym typeface="Wingdings" panose="05000000000000000000" pitchFamily="2" charset="2"/>
              </a:rPr>
              <a:t>know</a:t>
            </a:r>
            <a:r>
              <a:rPr lang="sv-SE" sz="2000" dirty="0">
                <a:sym typeface="Wingdings" panose="05000000000000000000" pitchFamily="2" charset="2"/>
              </a:rPr>
              <a:t> </a:t>
            </a:r>
            <a:r>
              <a:rPr lang="sv-SE" sz="2000" dirty="0" err="1">
                <a:sym typeface="Wingdings" panose="05000000000000000000" pitchFamily="2" charset="2"/>
              </a:rPr>
              <a:t>how</a:t>
            </a:r>
            <a:r>
              <a:rPr lang="sv-SE" sz="2000" dirty="0">
                <a:sym typeface="Wingdings" panose="05000000000000000000" pitchFamily="2" charset="2"/>
              </a:rPr>
              <a:t> to </a:t>
            </a:r>
            <a:r>
              <a:rPr lang="sv-SE" sz="2000" dirty="0" err="1">
                <a:sym typeface="Wingdings" panose="05000000000000000000" pitchFamily="2" charset="2"/>
              </a:rPr>
              <a:t>optimally</a:t>
            </a:r>
            <a:r>
              <a:rPr lang="sv-SE" sz="2000" dirty="0">
                <a:sym typeface="Wingdings" panose="05000000000000000000" pitchFamily="2" charset="2"/>
              </a:rPr>
              <a:t> </a:t>
            </a:r>
            <a:r>
              <a:rPr lang="sv-SE" sz="2000" dirty="0" err="1">
                <a:sym typeface="Wingdings" panose="05000000000000000000" pitchFamily="2" charset="2"/>
              </a:rPr>
              <a:t>solve</a:t>
            </a:r>
            <a:r>
              <a:rPr lang="sv-SE" sz="2000" dirty="0">
                <a:sym typeface="Wingdings" panose="05000000000000000000" pitchFamily="2" charset="2"/>
              </a:rPr>
              <a:t> all </a:t>
            </a:r>
            <a:r>
              <a:rPr lang="sv-SE" sz="2000" dirty="0" err="1">
                <a:sym typeface="Wingdings" panose="05000000000000000000" pitchFamily="2" charset="2"/>
              </a:rPr>
              <a:t>stated</a:t>
            </a:r>
            <a:r>
              <a:rPr lang="sv-SE" sz="2000" dirty="0">
                <a:sym typeface="Wingdings" panose="05000000000000000000" pitchFamily="2" charset="2"/>
              </a:rPr>
              <a:t> research </a:t>
            </a:r>
            <a:r>
              <a:rPr lang="sv-SE" sz="2000" dirty="0" err="1">
                <a:sym typeface="Wingdings" panose="05000000000000000000" pitchFamily="2" charset="2"/>
              </a:rPr>
              <a:t>questions</a:t>
            </a:r>
            <a:r>
              <a:rPr lang="sv-SE" sz="2000" dirty="0">
                <a:sym typeface="Wingdings" panose="05000000000000000000" pitchFamily="2" charset="2"/>
              </a:rPr>
              <a:t>  </a:t>
            </a:r>
            <a:r>
              <a:rPr lang="sv-SE" sz="2000" dirty="0" err="1">
                <a:sym typeface="Wingdings" panose="05000000000000000000" pitchFamily="2" charset="2"/>
              </a:rPr>
              <a:t>give</a:t>
            </a:r>
            <a:r>
              <a:rPr lang="sv-SE" sz="2000" dirty="0">
                <a:sym typeface="Wingdings" panose="05000000000000000000" pitchFamily="2" charset="2"/>
              </a:rPr>
              <a:t> </a:t>
            </a:r>
            <a:r>
              <a:rPr lang="sv-SE" sz="2000" dirty="0" err="1">
                <a:sym typeface="Wingdings" panose="05000000000000000000" pitchFamily="2" charset="2"/>
              </a:rPr>
              <a:t>some</a:t>
            </a:r>
            <a:r>
              <a:rPr lang="sv-SE" sz="2000" dirty="0">
                <a:sym typeface="Wingdings" panose="05000000000000000000" pitchFamily="2" charset="2"/>
              </a:rPr>
              <a:t> space for </a:t>
            </a:r>
            <a:r>
              <a:rPr lang="sv-SE" sz="2000" dirty="0" err="1">
                <a:sym typeface="Wingdings" panose="05000000000000000000" pitchFamily="2" charset="2"/>
              </a:rPr>
              <a:t>improvement</a:t>
            </a:r>
            <a:r>
              <a:rPr lang="sv-SE" sz="2000" dirty="0">
                <a:sym typeface="Wingdings" panose="05000000000000000000" pitchFamily="2" charset="2"/>
              </a:rPr>
              <a:t> suggestions from </a:t>
            </a:r>
            <a:r>
              <a:rPr lang="sv-SE" sz="2000" dirty="0" err="1">
                <a:sym typeface="Wingdings" panose="05000000000000000000" pitchFamily="2" charset="2"/>
              </a:rPr>
              <a:t>us</a:t>
            </a:r>
            <a:r>
              <a:rPr lang="sv-SE" sz="2000" dirty="0">
                <a:sym typeface="Wingdings" panose="05000000000000000000" pitchFamily="2" charset="2"/>
              </a:rPr>
              <a:t> in </a:t>
            </a:r>
            <a:r>
              <a:rPr lang="sv-SE" sz="2000" dirty="0" err="1">
                <a:sym typeface="Wingdings" panose="05000000000000000000" pitchFamily="2" charset="2"/>
              </a:rPr>
              <a:t>your</a:t>
            </a:r>
            <a:r>
              <a:rPr lang="sv-SE" sz="2000" dirty="0">
                <a:sym typeface="Wingdings" panose="05000000000000000000" pitchFamily="2" charset="2"/>
              </a:rPr>
              <a:t> </a:t>
            </a:r>
            <a:r>
              <a:rPr lang="sv-SE" sz="2000" dirty="0" err="1">
                <a:sym typeface="Wingdings" panose="05000000000000000000" pitchFamily="2" charset="2"/>
              </a:rPr>
              <a:t>speech</a:t>
            </a:r>
            <a:r>
              <a:rPr lang="sv-SE" sz="2000" dirty="0">
                <a:sym typeface="Wingdings" panose="05000000000000000000" pitchFamily="2" charset="2"/>
              </a:rPr>
              <a:t> </a:t>
            </a:r>
            <a:r>
              <a:rPr lang="sv-SE" sz="2000" dirty="0" err="1">
                <a:sym typeface="Wingdings" panose="05000000000000000000" pitchFamily="2" charset="2"/>
              </a:rPr>
              <a:t>where</a:t>
            </a:r>
            <a:r>
              <a:rPr lang="sv-SE" sz="2000" dirty="0">
                <a:sym typeface="Wingdings" panose="05000000000000000000" pitchFamily="2" charset="2"/>
              </a:rPr>
              <a:t> </a:t>
            </a:r>
            <a:r>
              <a:rPr lang="sv-SE" sz="2000" dirty="0" err="1">
                <a:sym typeface="Wingdings" panose="05000000000000000000" pitchFamily="2" charset="2"/>
              </a:rPr>
              <a:t>needed</a:t>
            </a:r>
            <a:r>
              <a:rPr lang="sv-SE" sz="2000" dirty="0">
                <a:sym typeface="Wingdings" panose="05000000000000000000" pitchFamily="2" charset="2"/>
              </a:rPr>
              <a:t>:</a:t>
            </a:r>
            <a:endParaRPr lang="sv-SE" sz="2000" dirty="0">
              <a:sym typeface="Wingdings" panose="05000000000000000000" pitchFamily="2" charset="2"/>
            </a:endParaRPr>
          </a:p>
          <a:p>
            <a:pPr lvl="1"/>
            <a:r>
              <a:rPr lang="sv-SE" sz="1600" dirty="0"/>
              <a:t>”I </a:t>
            </a:r>
            <a:r>
              <a:rPr lang="sv-SE" sz="1600" dirty="0" err="1"/>
              <a:t>propose</a:t>
            </a:r>
            <a:r>
              <a:rPr lang="sv-SE" sz="1600" dirty="0"/>
              <a:t> to </a:t>
            </a:r>
            <a:r>
              <a:rPr lang="sv-SE" sz="1600" dirty="0" err="1"/>
              <a:t>use</a:t>
            </a:r>
            <a:r>
              <a:rPr lang="sv-SE" sz="1600" dirty="0"/>
              <a:t> </a:t>
            </a:r>
            <a:r>
              <a:rPr lang="sv-SE" sz="1600" dirty="0" err="1"/>
              <a:t>this</a:t>
            </a:r>
            <a:r>
              <a:rPr lang="sv-SE" sz="1600" dirty="0"/>
              <a:t> </a:t>
            </a:r>
            <a:r>
              <a:rPr lang="sv-SE" sz="1600" dirty="0" err="1"/>
              <a:t>method</a:t>
            </a:r>
            <a:r>
              <a:rPr lang="sv-SE" sz="1600" dirty="0"/>
              <a:t>, </a:t>
            </a:r>
            <a:r>
              <a:rPr lang="sv-SE" sz="1600" dirty="0" err="1"/>
              <a:t>but</a:t>
            </a:r>
            <a:r>
              <a:rPr lang="sv-SE" sz="1600" dirty="0"/>
              <a:t> I </a:t>
            </a:r>
            <a:r>
              <a:rPr lang="sv-SE" sz="1600" dirty="0" err="1"/>
              <a:t>am</a:t>
            </a:r>
            <a:r>
              <a:rPr lang="sv-SE" sz="1600" dirty="0"/>
              <a:t> not sure </a:t>
            </a:r>
            <a:r>
              <a:rPr lang="sv-SE" sz="1600" dirty="0" err="1"/>
              <a:t>whether</a:t>
            </a:r>
            <a:r>
              <a:rPr lang="sv-SE" sz="1600" dirty="0"/>
              <a:t> </a:t>
            </a:r>
            <a:r>
              <a:rPr lang="sv-SE" sz="1600" dirty="0" err="1"/>
              <a:t>this</a:t>
            </a:r>
            <a:r>
              <a:rPr lang="sv-SE" sz="1600" dirty="0"/>
              <a:t> </a:t>
            </a:r>
            <a:r>
              <a:rPr lang="sv-SE" sz="1600" dirty="0" err="1"/>
              <a:t>one</a:t>
            </a:r>
            <a:r>
              <a:rPr lang="sv-SE" sz="1600" dirty="0"/>
              <a:t> is the optimal…”</a:t>
            </a:r>
            <a:endParaRPr lang="sv-SE" sz="1600" dirty="0"/>
          </a:p>
          <a:p>
            <a:pPr lvl="1"/>
            <a:r>
              <a:rPr lang="sv-SE" sz="1600" dirty="0"/>
              <a:t>”</a:t>
            </a:r>
            <a:r>
              <a:rPr lang="sv-SE" sz="1600" dirty="0" err="1"/>
              <a:t>These</a:t>
            </a:r>
            <a:r>
              <a:rPr lang="sv-SE" sz="1600" dirty="0"/>
              <a:t> </a:t>
            </a:r>
            <a:r>
              <a:rPr lang="sv-SE" sz="1600" dirty="0" err="1"/>
              <a:t>approaches</a:t>
            </a:r>
            <a:r>
              <a:rPr lang="sv-SE" sz="1600" dirty="0"/>
              <a:t> </a:t>
            </a:r>
            <a:r>
              <a:rPr lang="sv-SE" sz="1600" dirty="0" err="1"/>
              <a:t>might</a:t>
            </a:r>
            <a:r>
              <a:rPr lang="sv-SE" sz="1600" dirty="0"/>
              <a:t> be </a:t>
            </a:r>
            <a:r>
              <a:rPr lang="sv-SE" sz="1600" dirty="0" err="1"/>
              <a:t>suitable</a:t>
            </a:r>
            <a:r>
              <a:rPr lang="sv-SE" sz="1600" dirty="0"/>
              <a:t> </a:t>
            </a:r>
            <a:r>
              <a:rPr lang="sv-SE" sz="1600" dirty="0" err="1"/>
              <a:t>but</a:t>
            </a:r>
            <a:r>
              <a:rPr lang="sv-SE" sz="1600" dirty="0"/>
              <a:t> I ’m not sure </a:t>
            </a:r>
            <a:r>
              <a:rPr lang="sv-SE" sz="1600" dirty="0" err="1"/>
              <a:t>which</a:t>
            </a:r>
            <a:r>
              <a:rPr lang="sv-SE" sz="1600" dirty="0"/>
              <a:t> </a:t>
            </a:r>
            <a:r>
              <a:rPr lang="sv-SE" sz="1600" dirty="0" err="1"/>
              <a:t>one</a:t>
            </a:r>
            <a:r>
              <a:rPr lang="sv-SE" sz="1600" dirty="0"/>
              <a:t> is </a:t>
            </a:r>
            <a:r>
              <a:rPr lang="sv-SE" sz="1600" dirty="0" err="1"/>
              <a:t>better</a:t>
            </a:r>
            <a:r>
              <a:rPr lang="sv-SE" sz="1600" dirty="0"/>
              <a:t> to </a:t>
            </a:r>
            <a:r>
              <a:rPr lang="sv-SE" sz="1600" dirty="0" err="1"/>
              <a:t>use</a:t>
            </a:r>
            <a:r>
              <a:rPr lang="sv-SE" sz="1600" dirty="0"/>
              <a:t>…”</a:t>
            </a:r>
            <a:endParaRPr lang="sv-SE" sz="1600" dirty="0"/>
          </a:p>
          <a:p>
            <a:pPr lvl="1"/>
            <a:r>
              <a:rPr lang="sv-SE" sz="1600" dirty="0"/>
              <a:t>”Me and my supervisor still not sure </a:t>
            </a:r>
            <a:r>
              <a:rPr lang="sv-SE" sz="1600" dirty="0" err="1"/>
              <a:t>about</a:t>
            </a:r>
            <a:r>
              <a:rPr lang="sv-SE" sz="1600" dirty="0"/>
              <a:t> </a:t>
            </a:r>
            <a:r>
              <a:rPr lang="sv-SE" sz="1600" dirty="0" err="1"/>
              <a:t>how</a:t>
            </a:r>
            <a:r>
              <a:rPr lang="sv-SE" sz="1600" dirty="0"/>
              <a:t> to approach </a:t>
            </a:r>
            <a:r>
              <a:rPr lang="sv-SE" sz="1600" dirty="0" err="1"/>
              <a:t>this</a:t>
            </a:r>
            <a:r>
              <a:rPr lang="sv-SE" sz="1600" dirty="0"/>
              <a:t> </a:t>
            </a:r>
            <a:r>
              <a:rPr lang="sv-SE" sz="1600" dirty="0" err="1"/>
              <a:t>subproblem</a:t>
            </a:r>
            <a:r>
              <a:rPr lang="sv-SE" sz="1600" dirty="0"/>
              <a:t>…”</a:t>
            </a:r>
            <a:endParaRPr lang="sv-SE" sz="1600" dirty="0"/>
          </a:p>
          <a:p>
            <a:endParaRPr lang="en-US" sz="2000" dirty="0"/>
          </a:p>
          <a:p>
            <a:r>
              <a:rPr lang="en-US" sz="2000" dirty="0"/>
              <a:t>Clear explanation + informative presentation</a:t>
            </a:r>
            <a:r>
              <a:rPr lang="sv-SE" sz="2000" dirty="0">
                <a:sym typeface="Wingdings" panose="05000000000000000000" pitchFamily="2" charset="2"/>
              </a:rPr>
              <a:t> = </a:t>
            </a:r>
            <a:r>
              <a:rPr lang="sv-SE" sz="2000" dirty="0" err="1">
                <a:sym typeface="Wingdings" panose="05000000000000000000" pitchFamily="2" charset="2"/>
              </a:rPr>
              <a:t>more</a:t>
            </a:r>
            <a:r>
              <a:rPr lang="sv-SE" sz="2000" dirty="0">
                <a:sym typeface="Wingdings" panose="05000000000000000000" pitchFamily="2" charset="2"/>
              </a:rPr>
              <a:t> feedback </a:t>
            </a:r>
            <a:endParaRPr lang="sv-SE" sz="2000" dirty="0">
              <a:sym typeface="Wingdings" panose="05000000000000000000" pitchFamily="2" charset="2"/>
            </a:endParaRPr>
          </a:p>
          <a:p>
            <a:endParaRPr lang="sv-SE" sz="2000" dirty="0"/>
          </a:p>
          <a:p>
            <a:r>
              <a:rPr lang="en-US" sz="2000" dirty="0"/>
              <a:t>Expected outcomes: </a:t>
            </a:r>
            <a:endParaRPr lang="en-US" sz="2000" dirty="0"/>
          </a:p>
          <a:p>
            <a:pPr lvl="1"/>
            <a:r>
              <a:rPr lang="en-US" sz="1600" dirty="0"/>
              <a:t>Each course attendant, supervisors and examiners should have been informed about and understood the objectives of the thesis projects and possible ways to achieve these objectives</a:t>
            </a:r>
            <a:endParaRPr lang="en-US" sz="1600" dirty="0"/>
          </a:p>
          <a:p>
            <a:pPr lvl="1"/>
            <a:r>
              <a:rPr lang="en-US" sz="1600" dirty="0"/>
              <a:t>A feedback on the research planning is obtained by the course attendants when appropriate.</a:t>
            </a:r>
            <a:endParaRPr lang="en-US" sz="1600" dirty="0"/>
          </a:p>
          <a:p>
            <a:endParaRPr lang="sv-SE" sz="2000" b="1" dirty="0">
              <a:solidFill>
                <a:srgbClr val="C00000"/>
              </a:solidFill>
            </a:endParaRPr>
          </a:p>
          <a:p>
            <a:r>
              <a:rPr lang="sv-SE" sz="2000" b="1" dirty="0" err="1">
                <a:solidFill>
                  <a:srgbClr val="C00000"/>
                </a:solidFill>
              </a:rPr>
              <a:t>Mandatory</a:t>
            </a:r>
            <a:r>
              <a:rPr lang="sv-SE" sz="2000" b="1" dirty="0">
                <a:solidFill>
                  <a:srgbClr val="C00000"/>
                </a:solidFill>
              </a:rPr>
              <a:t> to </a:t>
            </a:r>
            <a:r>
              <a:rPr lang="sv-SE" sz="2000" b="1" dirty="0" err="1">
                <a:solidFill>
                  <a:srgbClr val="C00000"/>
                </a:solidFill>
              </a:rPr>
              <a:t>attend</a:t>
            </a:r>
            <a:r>
              <a:rPr lang="sv-SE" sz="2000" b="1" dirty="0">
                <a:solidFill>
                  <a:srgbClr val="C00000"/>
                </a:solidFill>
              </a:rPr>
              <a:t> all sessions </a:t>
            </a:r>
            <a:r>
              <a:rPr lang="sv-SE" sz="2000" b="1" dirty="0" err="1">
                <a:solidFill>
                  <a:srgbClr val="C00000"/>
                </a:solidFill>
              </a:rPr>
              <a:t>of</a:t>
            </a:r>
            <a:r>
              <a:rPr lang="sv-SE" sz="2000" b="1" dirty="0">
                <a:solidFill>
                  <a:srgbClr val="C00000"/>
                </a:solidFill>
              </a:rPr>
              <a:t> </a:t>
            </a:r>
            <a:r>
              <a:rPr lang="sv-SE" sz="2000" b="1" dirty="0" err="1">
                <a:solidFill>
                  <a:srgbClr val="C00000"/>
                </a:solidFill>
              </a:rPr>
              <a:t>your</a:t>
            </a:r>
            <a:r>
              <a:rPr lang="sv-SE" sz="2000" b="1" dirty="0">
                <a:solidFill>
                  <a:srgbClr val="C00000"/>
                </a:solidFill>
              </a:rPr>
              <a:t> </a:t>
            </a:r>
            <a:r>
              <a:rPr lang="sv-SE" sz="2000" b="1" dirty="0" err="1">
                <a:solidFill>
                  <a:srgbClr val="C00000"/>
                </a:solidFill>
              </a:rPr>
              <a:t>group</a:t>
            </a:r>
            <a:r>
              <a:rPr lang="sv-SE" sz="2000" b="1" dirty="0">
                <a:solidFill>
                  <a:srgbClr val="C00000"/>
                </a:solidFill>
              </a:rPr>
              <a:t>!</a:t>
            </a:r>
            <a:endParaRPr lang="sv-SE" dirty="0"/>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randombar(horizontal)">
                                      <p:cBhvr>
                                        <p:cTn id="12" dur="500"/>
                                        <p:tgtEl>
                                          <p:spTgt spid="3">
                                            <p:txEl>
                                              <p:pRg st="7" end="7"/>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Effect transition="in" filter="randombar(horizontal)">
                                      <p:cBhvr>
                                        <p:cTn id="15" dur="500"/>
                                        <p:tgtEl>
                                          <p:spTgt spid="3">
                                            <p:txEl>
                                              <p:pRg st="8" end="8"/>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3">
                                            <p:txEl>
                                              <p:pRg st="9" end="9"/>
                                            </p:txEl>
                                          </p:spTgt>
                                        </p:tgtEl>
                                        <p:attrNameLst>
                                          <p:attrName>style.visibility</p:attrName>
                                        </p:attrNameLst>
                                      </p:cBhvr>
                                      <p:to>
                                        <p:strVal val="visible"/>
                                      </p:to>
                                    </p:set>
                                    <p:animEffect transition="in" filter="randombar(horizontal)">
                                      <p:cBhvr>
                                        <p:cTn id="18" dur="500"/>
                                        <p:tgtEl>
                                          <p:spTgt spid="3">
                                            <p:txEl>
                                              <p:pRg st="9" end="9"/>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animEffect transition="in" filter="randombar(horizontal)">
                                      <p:cBhvr>
                                        <p:cTn id="21"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dirty="0"/>
              <a:t>Part 2</a:t>
            </a:r>
            <a:r>
              <a:rPr lang="sv-SE" dirty="0"/>
              <a:t>: Main </a:t>
            </a:r>
            <a:r>
              <a:rPr lang="sv-SE" dirty="0" err="1"/>
              <a:t>work</a:t>
            </a:r>
            <a:r>
              <a:rPr lang="sv-SE" dirty="0"/>
              <a:t>, </a:t>
            </a:r>
            <a:r>
              <a:rPr lang="sv-SE" dirty="0" err="1"/>
              <a:t>first</a:t>
            </a:r>
            <a:r>
              <a:rPr lang="sv-SE" dirty="0"/>
              <a:t> </a:t>
            </a:r>
            <a:r>
              <a:rPr lang="sv-SE" dirty="0" err="1"/>
              <a:t>phase</a:t>
            </a:r>
            <a:endParaRPr lang="sv-SE" dirty="0"/>
          </a:p>
        </p:txBody>
      </p:sp>
      <p:sp>
        <p:nvSpPr>
          <p:cNvPr id="3" name="Platshållare för innehåll 2"/>
          <p:cNvSpPr>
            <a:spLocks noGrp="1"/>
          </p:cNvSpPr>
          <p:nvPr>
            <p:ph idx="1"/>
          </p:nvPr>
        </p:nvSpPr>
        <p:spPr>
          <a:xfrm>
            <a:off x="539552" y="2873553"/>
            <a:ext cx="8147248" cy="3633267"/>
          </a:xfrm>
        </p:spPr>
        <p:txBody>
          <a:bodyPr>
            <a:normAutofit fontScale="85000" lnSpcReduction="20000"/>
          </a:bodyPr>
          <a:lstStyle/>
          <a:p>
            <a:r>
              <a:rPr lang="sv-SE" sz="2000" b="1" dirty="0" err="1">
                <a:solidFill>
                  <a:srgbClr val="0000FF"/>
                </a:solidFill>
              </a:rPr>
              <a:t>Time</a:t>
            </a:r>
            <a:r>
              <a:rPr lang="sv-SE" sz="2000" b="1" dirty="0">
                <a:solidFill>
                  <a:srgbClr val="0000FF"/>
                </a:solidFill>
              </a:rPr>
              <a:t> </a:t>
            </a:r>
            <a:r>
              <a:rPr lang="sv-SE" sz="2000" b="1" dirty="0" err="1">
                <a:solidFill>
                  <a:srgbClr val="0000FF"/>
                </a:solidFill>
              </a:rPr>
              <a:t>frame</a:t>
            </a:r>
            <a:r>
              <a:rPr lang="sv-SE" sz="2000" b="1" dirty="0">
                <a:solidFill>
                  <a:srgbClr val="0000FF"/>
                </a:solidFill>
              </a:rPr>
              <a:t>: </a:t>
            </a:r>
            <a:r>
              <a:rPr lang="sv-SE" sz="2000" b="1" dirty="0" err="1">
                <a:solidFill>
                  <a:srgbClr val="0000FF"/>
                </a:solidFill>
              </a:rPr>
              <a:t>Thesis</a:t>
            </a:r>
            <a:r>
              <a:rPr lang="sv-SE" sz="2000" b="1" dirty="0">
                <a:solidFill>
                  <a:srgbClr val="0000FF"/>
                </a:solidFill>
              </a:rPr>
              <a:t> </a:t>
            </a:r>
            <a:r>
              <a:rPr lang="sv-SE" sz="2000" b="1" dirty="0" err="1">
                <a:solidFill>
                  <a:srgbClr val="0000FF"/>
                </a:solidFill>
              </a:rPr>
              <a:t>proposal</a:t>
            </a:r>
            <a:r>
              <a:rPr lang="sv-SE" sz="2000" b="1" dirty="0">
                <a:solidFill>
                  <a:srgbClr val="0000FF"/>
                </a:solidFill>
              </a:rPr>
              <a:t> </a:t>
            </a:r>
            <a:r>
              <a:rPr lang="sv-SE" sz="2000" b="1" dirty="0" err="1">
                <a:solidFill>
                  <a:srgbClr val="0000FF"/>
                </a:solidFill>
              </a:rPr>
              <a:t>seminar</a:t>
            </a:r>
            <a:r>
              <a:rPr lang="sv-SE" sz="2000" b="1" dirty="0">
                <a:solidFill>
                  <a:srgbClr val="0000FF"/>
                </a:solidFill>
              </a:rPr>
              <a:t>  - Midterm </a:t>
            </a:r>
            <a:r>
              <a:rPr lang="sv-SE" sz="2000" b="1" dirty="0" err="1">
                <a:solidFill>
                  <a:srgbClr val="0000FF"/>
                </a:solidFill>
              </a:rPr>
              <a:t>seminar</a:t>
            </a:r>
            <a:endParaRPr lang="sv-SE" sz="2000" b="1" dirty="0">
              <a:solidFill>
                <a:srgbClr val="0000FF"/>
              </a:solidFill>
            </a:endParaRPr>
          </a:p>
          <a:p>
            <a:endParaRPr lang="sv-SE" sz="2000" dirty="0"/>
          </a:p>
          <a:p>
            <a:r>
              <a:rPr lang="sv-SE" sz="2000" dirty="0" err="1"/>
              <a:t>Limited</a:t>
            </a:r>
            <a:r>
              <a:rPr lang="sv-SE" sz="2000" dirty="0"/>
              <a:t> </a:t>
            </a:r>
            <a:r>
              <a:rPr lang="sv-SE" sz="2000" dirty="0" err="1"/>
              <a:t>time</a:t>
            </a:r>
            <a:r>
              <a:rPr lang="sv-SE" sz="2000" dirty="0"/>
              <a:t>: </a:t>
            </a:r>
            <a:r>
              <a:rPr lang="sv-SE" sz="2000" dirty="0" err="1"/>
              <a:t>this</a:t>
            </a:r>
            <a:r>
              <a:rPr lang="sv-SE" sz="2000" dirty="0"/>
              <a:t> </a:t>
            </a:r>
            <a:r>
              <a:rPr lang="sv-SE" sz="2000" dirty="0" err="1"/>
              <a:t>phase</a:t>
            </a:r>
            <a:r>
              <a:rPr lang="sv-SE" sz="2000" dirty="0"/>
              <a:t> lasts for less </a:t>
            </a:r>
            <a:r>
              <a:rPr lang="sv-SE" sz="2000" dirty="0" err="1"/>
              <a:t>than</a:t>
            </a:r>
            <a:r>
              <a:rPr lang="sv-SE" sz="2000" dirty="0"/>
              <a:t> 2 </a:t>
            </a:r>
            <a:r>
              <a:rPr lang="sv-SE" sz="2000" dirty="0" err="1"/>
              <a:t>months</a:t>
            </a:r>
            <a:r>
              <a:rPr lang="sv-SE" sz="2000" dirty="0"/>
              <a:t>!</a:t>
            </a:r>
            <a:endParaRPr lang="sv-SE" sz="2000" dirty="0"/>
          </a:p>
          <a:p>
            <a:endParaRPr lang="sv-SE" sz="2000" dirty="0"/>
          </a:p>
          <a:p>
            <a:r>
              <a:rPr lang="sv-SE" sz="2000" dirty="0"/>
              <a:t>In the </a:t>
            </a:r>
            <a:r>
              <a:rPr lang="sv-SE" sz="2000" dirty="0" err="1"/>
              <a:t>beginning</a:t>
            </a:r>
            <a:r>
              <a:rPr lang="sv-SE" sz="2000" dirty="0"/>
              <a:t>:</a:t>
            </a:r>
            <a:endParaRPr lang="sv-SE" sz="2000" dirty="0"/>
          </a:p>
          <a:p>
            <a:pPr lvl="1"/>
            <a:r>
              <a:rPr lang="en-US" sz="1600" dirty="0"/>
              <a:t>Take the feedback from the proposal seminar into account</a:t>
            </a:r>
            <a:endParaRPr lang="en-US" sz="1600" dirty="0"/>
          </a:p>
          <a:p>
            <a:pPr lvl="1"/>
            <a:r>
              <a:rPr lang="sv-SE" sz="1700" dirty="0" err="1"/>
              <a:t>Write</a:t>
            </a:r>
            <a:r>
              <a:rPr lang="sv-SE" sz="1700" dirty="0"/>
              <a:t> down </a:t>
            </a:r>
            <a:r>
              <a:rPr lang="sv-SE" sz="1700" dirty="0" err="1"/>
              <a:t>Introduction</a:t>
            </a:r>
            <a:r>
              <a:rPr lang="sv-SE" sz="1700" dirty="0"/>
              <a:t>, </a:t>
            </a:r>
            <a:r>
              <a:rPr lang="sv-SE" sz="1700" dirty="0" err="1"/>
              <a:t>Litterature</a:t>
            </a:r>
            <a:r>
              <a:rPr lang="sv-SE" sz="1700" dirty="0"/>
              <a:t> Review and </a:t>
            </a:r>
            <a:r>
              <a:rPr lang="sv-SE" sz="1700" dirty="0" err="1"/>
              <a:t>Thesis</a:t>
            </a:r>
            <a:r>
              <a:rPr lang="sv-SE" sz="1700" dirty="0"/>
              <a:t> </a:t>
            </a:r>
            <a:r>
              <a:rPr lang="sv-SE" sz="1700" dirty="0" err="1"/>
              <a:t>objectives</a:t>
            </a:r>
            <a:endParaRPr lang="sv-SE" sz="1700" dirty="0"/>
          </a:p>
          <a:p>
            <a:endParaRPr lang="sv-SE" sz="2000" dirty="0"/>
          </a:p>
          <a:p>
            <a:r>
              <a:rPr lang="sv-SE" sz="2000" dirty="0"/>
              <a:t>Sketch a </a:t>
            </a:r>
            <a:r>
              <a:rPr lang="sv-SE" sz="2000" dirty="0" err="1"/>
              <a:t>time</a:t>
            </a:r>
            <a:r>
              <a:rPr lang="sv-SE" sz="2000" dirty="0"/>
              <a:t> plan for </a:t>
            </a:r>
            <a:r>
              <a:rPr lang="sv-SE" sz="2000" dirty="0" err="1"/>
              <a:t>your</a:t>
            </a:r>
            <a:r>
              <a:rPr lang="sv-SE" sz="2000" dirty="0"/>
              <a:t> research (</a:t>
            </a:r>
            <a:r>
              <a:rPr lang="sv-SE" sz="2000" dirty="0" err="1"/>
              <a:t>work</a:t>
            </a:r>
            <a:r>
              <a:rPr lang="sv-SE" sz="2000" dirty="0"/>
              <a:t> </a:t>
            </a:r>
            <a:r>
              <a:rPr lang="sv-SE" sz="2000" dirty="0" err="1"/>
              <a:t>packages</a:t>
            </a:r>
            <a:r>
              <a:rPr lang="sv-SE" sz="2000" dirty="0"/>
              <a:t>)</a:t>
            </a:r>
            <a:endParaRPr lang="sv-SE" sz="2000" dirty="0"/>
          </a:p>
          <a:p>
            <a:endParaRPr lang="sv-SE" sz="2000" dirty="0"/>
          </a:p>
          <a:p>
            <a:r>
              <a:rPr lang="sv-SE" sz="2000" dirty="0" err="1"/>
              <a:t>Work</a:t>
            </a:r>
            <a:r>
              <a:rPr lang="sv-SE" sz="2000" dirty="0"/>
              <a:t> </a:t>
            </a:r>
            <a:r>
              <a:rPr lang="sv-SE" sz="2000" dirty="0" err="1"/>
              <a:t>with</a:t>
            </a:r>
            <a:r>
              <a:rPr lang="sv-SE" sz="2000" dirty="0"/>
              <a:t> </a:t>
            </a:r>
            <a:r>
              <a:rPr lang="sv-SE" sz="2000" dirty="0" err="1"/>
              <a:t>your</a:t>
            </a:r>
            <a:r>
              <a:rPr lang="sv-SE" sz="2000" dirty="0"/>
              <a:t> </a:t>
            </a:r>
            <a:r>
              <a:rPr lang="sv-SE" sz="2000" dirty="0" err="1"/>
              <a:t>project</a:t>
            </a:r>
            <a:r>
              <a:rPr lang="sv-SE" sz="2000" dirty="0"/>
              <a:t> (simulation, </a:t>
            </a:r>
            <a:r>
              <a:rPr lang="sv-SE" sz="2000" dirty="0" err="1"/>
              <a:t>reflection</a:t>
            </a:r>
            <a:r>
              <a:rPr lang="sv-SE" sz="2000" dirty="0"/>
              <a:t>, </a:t>
            </a:r>
            <a:r>
              <a:rPr lang="sv-SE" sz="2000" dirty="0" err="1"/>
              <a:t>discussion</a:t>
            </a:r>
            <a:r>
              <a:rPr lang="sv-SE" sz="2000" dirty="0"/>
              <a:t>, </a:t>
            </a:r>
            <a:r>
              <a:rPr lang="sv-SE" sz="2000" dirty="0" err="1"/>
              <a:t>documenting</a:t>
            </a:r>
            <a:r>
              <a:rPr lang="sv-SE" sz="2000" dirty="0"/>
              <a:t>)</a:t>
            </a:r>
            <a:endParaRPr lang="sv-SE" sz="2000" dirty="0"/>
          </a:p>
          <a:p>
            <a:endParaRPr lang="sv-SE" sz="2000" dirty="0"/>
          </a:p>
          <a:p>
            <a:r>
              <a:rPr lang="sv-SE" sz="2000" dirty="0" err="1"/>
              <a:t>Organize</a:t>
            </a:r>
            <a:r>
              <a:rPr lang="sv-SE" sz="2000" dirty="0"/>
              <a:t> a </a:t>
            </a:r>
            <a:r>
              <a:rPr lang="sv-SE" sz="2000" dirty="0" err="1"/>
              <a:t>regular</a:t>
            </a:r>
            <a:r>
              <a:rPr lang="sv-SE" sz="2000" dirty="0"/>
              <a:t> supervision, </a:t>
            </a:r>
            <a:r>
              <a:rPr lang="sv-SE" sz="2000" dirty="0" err="1"/>
              <a:t>discuss</a:t>
            </a:r>
            <a:r>
              <a:rPr lang="sv-SE" sz="2000" dirty="0"/>
              <a:t> </a:t>
            </a:r>
            <a:r>
              <a:rPr lang="sv-SE" sz="2000" dirty="0" err="1"/>
              <a:t>intermediate</a:t>
            </a:r>
            <a:r>
              <a:rPr lang="sv-SE" sz="2000" dirty="0"/>
              <a:t> </a:t>
            </a:r>
            <a:r>
              <a:rPr lang="sv-SE" sz="2000" dirty="0" err="1"/>
              <a:t>results</a:t>
            </a:r>
            <a:r>
              <a:rPr lang="sv-SE" sz="2000" dirty="0"/>
              <a:t>/problems </a:t>
            </a:r>
            <a:r>
              <a:rPr lang="sv-SE" sz="2000" dirty="0" err="1"/>
              <a:t>with</a:t>
            </a:r>
            <a:r>
              <a:rPr lang="sv-SE" sz="2000" dirty="0"/>
              <a:t> the </a:t>
            </a:r>
            <a:r>
              <a:rPr lang="sv-SE" sz="2000" dirty="0" err="1"/>
              <a:t>company</a:t>
            </a:r>
            <a:r>
              <a:rPr lang="sv-SE" sz="2000" dirty="0"/>
              <a:t>/</a:t>
            </a:r>
            <a:r>
              <a:rPr lang="sv-SE" sz="2000" dirty="0" err="1"/>
              <a:t>internal</a:t>
            </a:r>
            <a:r>
              <a:rPr lang="sv-SE" sz="2000" dirty="0"/>
              <a:t> supervisor.</a:t>
            </a:r>
            <a:endParaRPr lang="sv-SE" sz="2000" dirty="0"/>
          </a:p>
          <a:p>
            <a:endParaRPr lang="sv-SE" sz="2000" dirty="0"/>
          </a:p>
          <a:p>
            <a:endParaRPr lang="sv-SE" sz="2000" dirty="0"/>
          </a:p>
          <a:p>
            <a:endParaRPr lang="sv-SE" sz="2000" dirty="0"/>
          </a:p>
        </p:txBody>
      </p:sp>
      <p:sp>
        <p:nvSpPr>
          <p:cNvPr id="4" name="Platshållare för sidfot 3"/>
          <p:cNvSpPr>
            <a:spLocks noGrp="1"/>
          </p:cNvSpPr>
          <p:nvPr>
            <p:ph type="ftr" sz="quarter" idx="11"/>
          </p:nvPr>
        </p:nvSpPr>
        <p:spPr/>
        <p:txBody>
          <a:bodyPr/>
          <a:lstStyle/>
          <a:p>
            <a:r>
              <a:rPr lang="sv-SE"/>
              <a:t>732A64</a:t>
            </a:r>
            <a:endParaRPr lang="sv-SE" dirty="0"/>
          </a:p>
        </p:txBody>
      </p:sp>
      <p:graphicFrame>
        <p:nvGraphicFramePr>
          <p:cNvPr id="5" name="Table 4"/>
          <p:cNvGraphicFramePr>
            <a:graphicFrameLocks noGrp="1"/>
          </p:cNvGraphicFramePr>
          <p:nvPr/>
        </p:nvGraphicFramePr>
        <p:xfrm>
          <a:off x="421353" y="1878116"/>
          <a:ext cx="7607031" cy="534959"/>
        </p:xfrm>
        <a:graphic>
          <a:graphicData uri="http://schemas.openxmlformats.org/drawingml/2006/table">
            <a:tbl>
              <a:tblPr firstRow="1" firstCol="1" bandRow="1">
                <a:tableStyleId>{5C22544A-7EE6-4342-B048-85BDC9FD1C3A}</a:tableStyleId>
              </a:tblPr>
              <a:tblGrid>
                <a:gridCol w="1454952"/>
                <a:gridCol w="6152079"/>
              </a:tblGrid>
              <a:tr h="118218">
                <a:tc>
                  <a:txBody>
                    <a:bodyPr/>
                    <a:lstStyle/>
                    <a:p>
                      <a:pPr>
                        <a:lnSpc>
                          <a:spcPct val="107000"/>
                        </a:lnSpc>
                        <a:spcAft>
                          <a:spcPts val="800"/>
                        </a:spcAft>
                        <a:buNone/>
                      </a:pPr>
                      <a:endParaRPr lang="sv-SE" sz="1100" b="1"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b="1" kern="100" dirty="0">
                        <a:effectLst/>
                      </a:endParaRPr>
                    </a:p>
                  </a:txBody>
                  <a:tcPr marL="0" marR="0" marT="0" marB="0" anchor="ctr"/>
                </a:tc>
              </a:tr>
              <a:tr h="0">
                <a:tc>
                  <a:txBody>
                    <a:bodyPr/>
                    <a:lstStyle/>
                    <a:p>
                      <a:pPr>
                        <a:lnSpc>
                          <a:spcPct val="107000"/>
                        </a:lnSpc>
                        <a:spcAft>
                          <a:spcPts val="800"/>
                        </a:spcAft>
                        <a:buNone/>
                      </a:pPr>
                      <a:r>
                        <a:rPr lang="sv-SE" sz="1100" kern="100">
                          <a:effectLst/>
                        </a:rPr>
                        <a:t>March 15</a:t>
                      </a: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en-GB" sz="1100" kern="100">
                          <a:effectLst/>
                        </a:rPr>
                        <a:t>Submitting the midterm presentation plus progress report plus thesis text sample to LISAM</a:t>
                      </a: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92059">
                <a:tc>
                  <a:txBody>
                    <a:bodyPr/>
                    <a:lstStyle/>
                    <a:p>
                      <a:pPr>
                        <a:lnSpc>
                          <a:spcPct val="107000"/>
                        </a:lnSpc>
                        <a:spcAft>
                          <a:spcPts val="800"/>
                        </a:spcAft>
                        <a:buNone/>
                      </a:pPr>
                      <a:r>
                        <a:rPr lang="sv-SE" sz="1100" b="1" kern="100">
                          <a:effectLst/>
                        </a:rPr>
                        <a:t>March 23-24</a:t>
                      </a:r>
                      <a:endParaRPr lang="sv-SE" sz="1100" b="1"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sv-SE" sz="1100" b="1" kern="100" dirty="0">
                          <a:effectLst/>
                        </a:rPr>
                        <a:t>Mid-term </a:t>
                      </a:r>
                      <a:r>
                        <a:rPr lang="sv-SE" sz="1100" b="1" kern="100" dirty="0" err="1">
                          <a:effectLst/>
                        </a:rPr>
                        <a:t>seminar</a:t>
                      </a:r>
                      <a:r>
                        <a:rPr lang="sv-SE" sz="1100" b="1" kern="100" dirty="0">
                          <a:effectLst/>
                        </a:rPr>
                        <a:t>:</a:t>
                      </a:r>
                      <a:endParaRPr lang="sv-SE" sz="1100" b="1" kern="100" dirty="0">
                        <a:effectLst/>
                      </a:endParaRPr>
                    </a:p>
                  </a:txBody>
                  <a:tcPr marL="0" marR="0" marT="0" marB="0" anchor="ct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2" dur="500"/>
                                        <p:tgtEl>
                                          <p:spTgt spid="3">
                                            <p:txEl>
                                              <p:pRg st="4" end="4"/>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5" dur="500"/>
                                        <p:tgtEl>
                                          <p:spTgt spid="3">
                                            <p:txEl>
                                              <p:pRg st="5" end="5"/>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randombar(horizontal)">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randombar(horizontal)">
                                      <p:cBhvr>
                                        <p:cTn id="23" dur="500"/>
                                        <p:tgtEl>
                                          <p:spTgt spid="3">
                                            <p:txEl>
                                              <p:pRg st="8" end="8"/>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26" dur="500"/>
                                        <p:tgtEl>
                                          <p:spTgt spid="3">
                                            <p:txEl>
                                              <p:pRg st="10" end="1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Effect transition="in" filter="randombar(horizontal)">
                                      <p:cBhvr>
                                        <p:cTn id="31"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dirty="0"/>
              <a:t>Part 2</a:t>
            </a:r>
            <a:r>
              <a:rPr lang="sv-SE" dirty="0"/>
              <a:t>: Main </a:t>
            </a:r>
            <a:r>
              <a:rPr lang="sv-SE" dirty="0" err="1"/>
              <a:t>work</a:t>
            </a:r>
            <a:r>
              <a:rPr lang="sv-SE" dirty="0"/>
              <a:t>, </a:t>
            </a:r>
            <a:r>
              <a:rPr lang="sv-SE" dirty="0" err="1"/>
              <a:t>first</a:t>
            </a:r>
            <a:r>
              <a:rPr lang="sv-SE" dirty="0"/>
              <a:t> </a:t>
            </a:r>
            <a:r>
              <a:rPr lang="sv-SE" dirty="0" err="1"/>
              <a:t>phase</a:t>
            </a:r>
            <a:endParaRPr lang="sv-SE" dirty="0"/>
          </a:p>
        </p:txBody>
      </p:sp>
      <p:sp>
        <p:nvSpPr>
          <p:cNvPr id="3" name="Platshållare för innehåll 2"/>
          <p:cNvSpPr>
            <a:spLocks noGrp="1"/>
          </p:cNvSpPr>
          <p:nvPr>
            <p:ph idx="1"/>
          </p:nvPr>
        </p:nvSpPr>
        <p:spPr/>
        <p:txBody>
          <a:bodyPr/>
          <a:lstStyle/>
          <a:p>
            <a:endParaRPr lang="sv-SE" sz="2000" dirty="0"/>
          </a:p>
          <a:p>
            <a:r>
              <a:rPr lang="sv-SE" sz="2000" dirty="0" err="1"/>
              <a:t>Write</a:t>
            </a:r>
            <a:r>
              <a:rPr lang="sv-SE" sz="2000" dirty="0"/>
              <a:t> draft texts </a:t>
            </a:r>
            <a:r>
              <a:rPr lang="sv-SE" sz="2000" dirty="0" err="1"/>
              <a:t>containing</a:t>
            </a:r>
            <a:r>
              <a:rPr lang="sv-SE" sz="2000" dirty="0"/>
              <a:t> </a:t>
            </a:r>
            <a:r>
              <a:rPr lang="sv-SE" sz="2000" dirty="0" err="1"/>
              <a:t>results</a:t>
            </a:r>
            <a:r>
              <a:rPr lang="sv-SE" sz="2000" dirty="0"/>
              <a:t> and </a:t>
            </a:r>
            <a:r>
              <a:rPr lang="sv-SE" sz="2000" dirty="0" err="1"/>
              <a:t>their</a:t>
            </a:r>
            <a:r>
              <a:rPr lang="sv-SE" sz="2000" dirty="0"/>
              <a:t> </a:t>
            </a:r>
            <a:r>
              <a:rPr lang="sv-SE" sz="2000" dirty="0" err="1"/>
              <a:t>analysis</a:t>
            </a:r>
            <a:r>
              <a:rPr lang="sv-SE" sz="2000" dirty="0"/>
              <a:t> </a:t>
            </a:r>
            <a:r>
              <a:rPr lang="sv-SE" sz="2000" dirty="0">
                <a:sym typeface="Wingdings" panose="05000000000000000000" pitchFamily="2" charset="2"/>
              </a:rPr>
              <a:t> </a:t>
            </a:r>
            <a:r>
              <a:rPr lang="sv-SE" sz="2000" b="1" dirty="0" err="1">
                <a:sym typeface="Wingdings" panose="05000000000000000000" pitchFamily="2" charset="2"/>
              </a:rPr>
              <a:t>send</a:t>
            </a:r>
            <a:r>
              <a:rPr lang="sv-SE" sz="2000" b="1" dirty="0">
                <a:sym typeface="Wingdings" panose="05000000000000000000" pitchFamily="2" charset="2"/>
              </a:rPr>
              <a:t>/show </a:t>
            </a:r>
            <a:r>
              <a:rPr lang="sv-SE" sz="2000" b="1" dirty="0" err="1">
                <a:sym typeface="Wingdings" panose="05000000000000000000" pitchFamily="2" charset="2"/>
              </a:rPr>
              <a:t>your</a:t>
            </a:r>
            <a:r>
              <a:rPr lang="sv-SE" sz="2000" b="1" dirty="0">
                <a:sym typeface="Wingdings" panose="05000000000000000000" pitchFamily="2" charset="2"/>
              </a:rPr>
              <a:t> texts to the supervisor </a:t>
            </a:r>
            <a:r>
              <a:rPr lang="sv-SE" sz="2000" b="1" dirty="0" err="1">
                <a:sym typeface="Wingdings" panose="05000000000000000000" pitchFamily="2" charset="2"/>
              </a:rPr>
              <a:t>regularly</a:t>
            </a:r>
            <a:endParaRPr lang="sv-SE" sz="2000" b="1" dirty="0">
              <a:sym typeface="Wingdings" panose="05000000000000000000" pitchFamily="2" charset="2"/>
            </a:endParaRPr>
          </a:p>
          <a:p>
            <a:endParaRPr lang="sv-SE" sz="2000" dirty="0"/>
          </a:p>
          <a:p>
            <a:endParaRPr lang="sv-SE" sz="2000" dirty="0"/>
          </a:p>
          <a:p>
            <a:r>
              <a:rPr lang="sv-SE" sz="2000" dirty="0"/>
              <a:t>By the end </a:t>
            </a:r>
            <a:r>
              <a:rPr lang="sv-SE" sz="2000" dirty="0" err="1"/>
              <a:t>of</a:t>
            </a:r>
            <a:r>
              <a:rPr lang="sv-SE" sz="2000" dirty="0"/>
              <a:t> the </a:t>
            </a:r>
            <a:r>
              <a:rPr lang="sv-SE" sz="2000" dirty="0" err="1"/>
              <a:t>phase</a:t>
            </a:r>
            <a:r>
              <a:rPr lang="sv-SE" sz="2000" dirty="0"/>
              <a:t>, </a:t>
            </a:r>
            <a:r>
              <a:rPr lang="sv-SE" sz="2000" b="1" dirty="0">
                <a:solidFill>
                  <a:srgbClr val="0000FF"/>
                </a:solidFill>
              </a:rPr>
              <a:t>at </a:t>
            </a:r>
            <a:r>
              <a:rPr lang="sv-SE" sz="2000" b="1" dirty="0" err="1">
                <a:solidFill>
                  <a:srgbClr val="0000FF"/>
                </a:solidFill>
              </a:rPr>
              <a:t>least</a:t>
            </a:r>
            <a:r>
              <a:rPr lang="sv-SE" sz="2000" b="1" dirty="0">
                <a:solidFill>
                  <a:srgbClr val="0000FF"/>
                </a:solidFill>
              </a:rPr>
              <a:t> 60% </a:t>
            </a:r>
            <a:r>
              <a:rPr lang="sv-SE" sz="2000" dirty="0" err="1"/>
              <a:t>of</a:t>
            </a:r>
            <a:r>
              <a:rPr lang="sv-SE" sz="2000" dirty="0"/>
              <a:t> the </a:t>
            </a:r>
            <a:r>
              <a:rPr lang="sv-SE" sz="2000" dirty="0" err="1"/>
              <a:t>work</a:t>
            </a:r>
            <a:r>
              <a:rPr lang="sv-SE" sz="2000" dirty="0"/>
              <a:t> </a:t>
            </a:r>
            <a:r>
              <a:rPr lang="sv-SE" sz="2000" dirty="0" err="1"/>
              <a:t>needs</a:t>
            </a:r>
            <a:r>
              <a:rPr lang="sv-SE" sz="2000" dirty="0"/>
              <a:t> to be </a:t>
            </a:r>
            <a:r>
              <a:rPr lang="sv-SE" sz="2000" dirty="0" err="1"/>
              <a:t>done</a:t>
            </a:r>
            <a:endParaRPr lang="sv-SE" sz="2000" dirty="0"/>
          </a:p>
          <a:p>
            <a:pPr lvl="1"/>
            <a:r>
              <a:rPr lang="sv-SE" sz="1600" dirty="0" err="1"/>
              <a:t>Including</a:t>
            </a:r>
            <a:r>
              <a:rPr lang="sv-SE" sz="1600" dirty="0"/>
              <a:t> the </a:t>
            </a:r>
            <a:r>
              <a:rPr lang="sv-SE" sz="1600" dirty="0" err="1"/>
              <a:t>thesis</a:t>
            </a:r>
            <a:r>
              <a:rPr lang="sv-SE" sz="1600" dirty="0"/>
              <a:t> </a:t>
            </a:r>
            <a:r>
              <a:rPr lang="sv-SE" sz="1600" dirty="0" err="1"/>
              <a:t>writing</a:t>
            </a:r>
            <a:r>
              <a:rPr lang="sv-SE" sz="1600" dirty="0"/>
              <a:t> part</a:t>
            </a:r>
            <a:endParaRPr lang="sv-SE" sz="1600" dirty="0"/>
          </a:p>
          <a:p>
            <a:endParaRPr lang="sv-SE" sz="2000" dirty="0"/>
          </a:p>
          <a:p>
            <a:r>
              <a:rPr lang="sv-SE" sz="2000" dirty="0"/>
              <a:t>Ends by the mid-term </a:t>
            </a:r>
            <a:r>
              <a:rPr lang="sv-SE" sz="2000" dirty="0" err="1"/>
              <a:t>seminar</a:t>
            </a:r>
            <a:endParaRPr lang="sv-SE" sz="2000" dirty="0"/>
          </a:p>
          <a:p>
            <a:endParaRPr lang="sv-SE" sz="2400" dirty="0"/>
          </a:p>
          <a:p>
            <a:endParaRPr lang="sv-SE" dirty="0"/>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7" dur="500"/>
                                        <p:tgtEl>
                                          <p:spTgt spid="3">
                                            <p:txEl>
                                              <p:pRg st="4" end="4"/>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randombar(horizontal)">
                                      <p:cBhvr>
                                        <p:cTn id="1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dirty="0"/>
              <a:t>Mid-term seminar</a:t>
            </a:r>
            <a:endParaRPr lang="sv-SE" dirty="0"/>
          </a:p>
        </p:txBody>
      </p:sp>
      <p:sp>
        <p:nvSpPr>
          <p:cNvPr id="3" name="Platshållare för innehåll 2"/>
          <p:cNvSpPr>
            <a:spLocks noGrp="1"/>
          </p:cNvSpPr>
          <p:nvPr>
            <p:ph idx="1"/>
          </p:nvPr>
        </p:nvSpPr>
        <p:spPr/>
        <p:txBody>
          <a:bodyPr>
            <a:normAutofit fontScale="85000" lnSpcReduction="20000"/>
          </a:bodyPr>
          <a:lstStyle/>
          <a:p>
            <a:r>
              <a:rPr lang="en-US" sz="2000" dirty="0"/>
              <a:t>Each student presents their progress so far. 20 minutes per thesis </a:t>
            </a:r>
            <a:r>
              <a:rPr lang="sv-SE" sz="2000" dirty="0"/>
              <a:t>+ 10 mins </a:t>
            </a:r>
            <a:r>
              <a:rPr lang="sv-SE" sz="2000" dirty="0" err="1"/>
              <a:t>questions</a:t>
            </a:r>
            <a:r>
              <a:rPr lang="sv-SE" sz="2000" dirty="0"/>
              <a:t>.</a:t>
            </a:r>
            <a:endParaRPr lang="sv-SE" sz="2000" dirty="0"/>
          </a:p>
          <a:p>
            <a:pPr lvl="1"/>
            <a:r>
              <a:rPr lang="sv-SE" sz="1600" dirty="0" err="1"/>
              <a:t>Train</a:t>
            </a:r>
            <a:r>
              <a:rPr lang="sv-SE" sz="1600" dirty="0"/>
              <a:t> </a:t>
            </a:r>
            <a:r>
              <a:rPr lang="sv-SE" sz="1600" dirty="0" err="1"/>
              <a:t>yourself</a:t>
            </a:r>
            <a:r>
              <a:rPr lang="sv-SE" sz="1600" dirty="0"/>
              <a:t> to fit  </a:t>
            </a:r>
            <a:r>
              <a:rPr lang="sv-SE" sz="1600" dirty="0" err="1"/>
              <a:t>these</a:t>
            </a:r>
            <a:r>
              <a:rPr lang="sv-SE" sz="1600" dirty="0"/>
              <a:t> </a:t>
            </a:r>
            <a:r>
              <a:rPr lang="sv-SE" sz="1600" dirty="0" err="1"/>
              <a:t>time</a:t>
            </a:r>
            <a:r>
              <a:rPr lang="sv-SE" sz="1600" dirty="0"/>
              <a:t> </a:t>
            </a:r>
            <a:r>
              <a:rPr lang="sv-SE" sz="1600" dirty="0" err="1"/>
              <a:t>frames</a:t>
            </a:r>
            <a:r>
              <a:rPr lang="sv-SE" sz="1600" dirty="0"/>
              <a:t> in </a:t>
            </a:r>
            <a:r>
              <a:rPr lang="sv-SE" sz="1600" dirty="0" err="1"/>
              <a:t>advance</a:t>
            </a:r>
            <a:endParaRPr lang="sv-SE" sz="1600" dirty="0"/>
          </a:p>
          <a:p>
            <a:endParaRPr lang="en-US" sz="2000" dirty="0"/>
          </a:p>
          <a:p>
            <a:r>
              <a:rPr lang="en-US" sz="2000" dirty="0"/>
              <a:t>A two-pages written summary of the progress </a:t>
            </a:r>
            <a:r>
              <a:rPr lang="sv-SE" sz="2000" dirty="0"/>
              <a:t>+ </a:t>
            </a:r>
            <a:r>
              <a:rPr lang="sv-SE" sz="2000" dirty="0" err="1"/>
              <a:t>sample</a:t>
            </a:r>
            <a:r>
              <a:rPr lang="sv-SE" sz="2000" dirty="0"/>
              <a:t> </a:t>
            </a:r>
            <a:r>
              <a:rPr lang="sv-SE" sz="2000" dirty="0" err="1"/>
              <a:t>thesis</a:t>
            </a:r>
            <a:r>
              <a:rPr lang="sv-SE" sz="2000" dirty="0"/>
              <a:t> text, for </a:t>
            </a:r>
            <a:r>
              <a:rPr lang="sv-SE" sz="2000" dirty="0" err="1"/>
              <a:t>example</a:t>
            </a:r>
            <a:r>
              <a:rPr lang="sv-SE" sz="2000" dirty="0"/>
              <a:t> a </a:t>
            </a:r>
            <a:r>
              <a:rPr lang="sv-SE" sz="2000" dirty="0" err="1"/>
              <a:t>completed</a:t>
            </a:r>
            <a:r>
              <a:rPr lang="sv-SE" sz="2000" dirty="0"/>
              <a:t> </a:t>
            </a:r>
            <a:r>
              <a:rPr lang="sv-SE" sz="2000" dirty="0" err="1"/>
              <a:t>piece</a:t>
            </a:r>
            <a:r>
              <a:rPr lang="sv-SE" sz="2000" dirty="0"/>
              <a:t> </a:t>
            </a:r>
            <a:r>
              <a:rPr lang="sv-SE" sz="2000" dirty="0" err="1"/>
              <a:t>of</a:t>
            </a:r>
            <a:r>
              <a:rPr lang="sv-SE" sz="2000" dirty="0"/>
              <a:t> </a:t>
            </a:r>
            <a:r>
              <a:rPr lang="sv-SE" sz="2000" dirty="0" err="1"/>
              <a:t>Introduction</a:t>
            </a:r>
            <a:r>
              <a:rPr lang="sv-SE" sz="2000" dirty="0"/>
              <a:t> </a:t>
            </a:r>
            <a:r>
              <a:rPr lang="sv-SE" sz="2000" dirty="0" err="1"/>
              <a:t>section</a:t>
            </a:r>
            <a:r>
              <a:rPr lang="sv-SE" sz="2000" dirty="0"/>
              <a:t> (in the appendix) + Presentation </a:t>
            </a:r>
            <a:r>
              <a:rPr lang="sv-SE" sz="2000" dirty="0" err="1"/>
              <a:t>slides</a:t>
            </a:r>
            <a:r>
              <a:rPr lang="sv-SE" sz="2000" dirty="0"/>
              <a:t> </a:t>
            </a:r>
            <a:r>
              <a:rPr lang="sv-SE" sz="2000" dirty="0" err="1"/>
              <a:t>should</a:t>
            </a:r>
            <a:r>
              <a:rPr lang="sv-SE" sz="2000" dirty="0"/>
              <a:t> be </a:t>
            </a:r>
            <a:r>
              <a:rPr lang="sv-SE" sz="2000" dirty="0" err="1"/>
              <a:t>uploaded</a:t>
            </a:r>
            <a:r>
              <a:rPr lang="sv-SE" sz="2000" dirty="0"/>
              <a:t> to LISAM in </a:t>
            </a:r>
            <a:r>
              <a:rPr lang="sv-SE" sz="2000" dirty="0" err="1"/>
              <a:t>time</a:t>
            </a:r>
            <a:r>
              <a:rPr lang="sv-SE" sz="2000" dirty="0"/>
              <a:t>.</a:t>
            </a:r>
            <a:endParaRPr lang="sv-SE" sz="2000" dirty="0"/>
          </a:p>
          <a:p>
            <a:endParaRPr lang="sv-SE" sz="2000" dirty="0"/>
          </a:p>
          <a:p>
            <a:r>
              <a:rPr lang="en-US" sz="2000" dirty="0"/>
              <a:t>Expected outcomes: Each course attendant and the supervisor/examiner should become informed about what has been done so far and what is left to do for </a:t>
            </a:r>
            <a:r>
              <a:rPr lang="sv-SE" sz="2000" dirty="0" err="1"/>
              <a:t>each</a:t>
            </a:r>
            <a:r>
              <a:rPr lang="sv-SE" sz="2000" dirty="0"/>
              <a:t> </a:t>
            </a:r>
            <a:r>
              <a:rPr lang="sv-SE" sz="2000" dirty="0" err="1"/>
              <a:t>thesis</a:t>
            </a:r>
            <a:r>
              <a:rPr lang="sv-SE" sz="2000" dirty="0"/>
              <a:t> </a:t>
            </a:r>
            <a:r>
              <a:rPr lang="sv-SE" sz="2000" dirty="0" err="1"/>
              <a:t>project</a:t>
            </a:r>
            <a:r>
              <a:rPr lang="sv-SE" sz="2000" dirty="0"/>
              <a:t>.</a:t>
            </a:r>
            <a:endParaRPr lang="sv-SE" sz="2000" dirty="0"/>
          </a:p>
          <a:p>
            <a:endParaRPr lang="sv-SE" sz="2000" dirty="0"/>
          </a:p>
          <a:p>
            <a:r>
              <a:rPr lang="sv-SE" sz="2000" dirty="0" err="1"/>
              <a:t>Don’t</a:t>
            </a:r>
            <a:r>
              <a:rPr lang="sv-SE" sz="2000" dirty="0"/>
              <a:t> </a:t>
            </a:r>
            <a:r>
              <a:rPr lang="sv-SE" sz="2000" dirty="0" err="1"/>
              <a:t>assume</a:t>
            </a:r>
            <a:r>
              <a:rPr lang="sv-SE" sz="2000" dirty="0"/>
              <a:t> </a:t>
            </a:r>
            <a:r>
              <a:rPr lang="sv-SE" sz="2000" dirty="0" err="1"/>
              <a:t>that</a:t>
            </a:r>
            <a:r>
              <a:rPr lang="sv-SE" sz="2000" dirty="0"/>
              <a:t> </a:t>
            </a:r>
            <a:r>
              <a:rPr lang="sv-SE" sz="2000" dirty="0" err="1"/>
              <a:t>people</a:t>
            </a:r>
            <a:r>
              <a:rPr lang="sv-SE" sz="2000" dirty="0"/>
              <a:t> </a:t>
            </a:r>
            <a:r>
              <a:rPr lang="sv-SE" sz="2000" dirty="0" err="1"/>
              <a:t>remember</a:t>
            </a:r>
            <a:r>
              <a:rPr lang="sv-SE" sz="2000" dirty="0"/>
              <a:t> </a:t>
            </a:r>
            <a:r>
              <a:rPr lang="sv-SE" sz="2000" dirty="0" err="1"/>
              <a:t>what</a:t>
            </a:r>
            <a:r>
              <a:rPr lang="sv-SE" sz="2000" dirty="0"/>
              <a:t> </a:t>
            </a:r>
            <a:r>
              <a:rPr lang="sv-SE" sz="2000" dirty="0" err="1"/>
              <a:t>you</a:t>
            </a:r>
            <a:r>
              <a:rPr lang="sv-SE" sz="2000" dirty="0"/>
              <a:t> </a:t>
            </a:r>
            <a:r>
              <a:rPr lang="sv-SE" sz="2000" dirty="0" err="1"/>
              <a:t>explained</a:t>
            </a:r>
            <a:r>
              <a:rPr lang="sv-SE" sz="2000" dirty="0"/>
              <a:t> in the </a:t>
            </a:r>
            <a:r>
              <a:rPr lang="sv-SE" sz="2000" dirty="0" err="1"/>
              <a:t>Thesis</a:t>
            </a:r>
            <a:r>
              <a:rPr lang="sv-SE" sz="2000" dirty="0"/>
              <a:t> </a:t>
            </a:r>
            <a:r>
              <a:rPr lang="sv-SE" sz="2000" dirty="0" err="1"/>
              <a:t>Proposal</a:t>
            </a:r>
            <a:r>
              <a:rPr lang="sv-SE" sz="2000" dirty="0"/>
              <a:t>.</a:t>
            </a:r>
            <a:endParaRPr lang="sv-SE" sz="2000" dirty="0"/>
          </a:p>
          <a:p>
            <a:endParaRPr lang="sv-SE" sz="2000" dirty="0"/>
          </a:p>
          <a:p>
            <a:r>
              <a:rPr lang="sv-SE" sz="2000" dirty="0" err="1"/>
              <a:t>Student’s</a:t>
            </a:r>
            <a:r>
              <a:rPr lang="sv-SE" sz="2000" dirty="0"/>
              <a:t> </a:t>
            </a:r>
            <a:r>
              <a:rPr lang="sv-SE" sz="2000" dirty="0" err="1"/>
              <a:t>benefits</a:t>
            </a:r>
            <a:r>
              <a:rPr lang="sv-SE" sz="2000" dirty="0"/>
              <a:t>: </a:t>
            </a:r>
            <a:r>
              <a:rPr lang="sv-SE" sz="2000" dirty="0" err="1"/>
              <a:t>You</a:t>
            </a:r>
            <a:r>
              <a:rPr lang="sv-SE" sz="2000" dirty="0"/>
              <a:t> </a:t>
            </a:r>
            <a:r>
              <a:rPr lang="sv-SE" sz="2000" dirty="0" err="1"/>
              <a:t>may</a:t>
            </a:r>
            <a:r>
              <a:rPr lang="sv-SE" sz="2000" dirty="0"/>
              <a:t> get a </a:t>
            </a:r>
            <a:r>
              <a:rPr lang="sv-SE" sz="2000" dirty="0" err="1"/>
              <a:t>critical</a:t>
            </a:r>
            <a:r>
              <a:rPr lang="sv-SE" sz="2000" dirty="0"/>
              <a:t> feedback on </a:t>
            </a:r>
            <a:r>
              <a:rPr lang="sv-SE" sz="2000" dirty="0" err="1"/>
              <a:t>your</a:t>
            </a:r>
            <a:r>
              <a:rPr lang="sv-SE" sz="2000" dirty="0"/>
              <a:t> </a:t>
            </a:r>
            <a:r>
              <a:rPr lang="sv-SE" sz="2000" dirty="0" err="1"/>
              <a:t>intermediate</a:t>
            </a:r>
            <a:r>
              <a:rPr lang="sv-SE" sz="2000" dirty="0"/>
              <a:t> </a:t>
            </a:r>
            <a:r>
              <a:rPr lang="sv-SE" sz="2000" dirty="0" err="1"/>
              <a:t>results</a:t>
            </a:r>
            <a:r>
              <a:rPr lang="sv-SE" sz="2000" dirty="0"/>
              <a:t> and </a:t>
            </a:r>
            <a:r>
              <a:rPr lang="sv-SE" sz="2000" dirty="0" err="1"/>
              <a:t>improvement</a:t>
            </a:r>
            <a:r>
              <a:rPr lang="sv-SE" sz="2000" dirty="0"/>
              <a:t> suggestions</a:t>
            </a:r>
            <a:endParaRPr lang="sv-SE" sz="2000" dirty="0"/>
          </a:p>
          <a:p>
            <a:pPr lvl="1"/>
            <a:r>
              <a:rPr lang="sv-SE" sz="1600" dirty="0"/>
              <a:t>Make presentation </a:t>
            </a:r>
            <a:r>
              <a:rPr lang="sv-SE" sz="1600" dirty="0" err="1"/>
              <a:t>clear</a:t>
            </a:r>
            <a:r>
              <a:rPr lang="sv-SE" sz="1600" dirty="0"/>
              <a:t> and </a:t>
            </a:r>
            <a:r>
              <a:rPr lang="sv-SE" sz="1600" dirty="0" err="1"/>
              <a:t>easy</a:t>
            </a:r>
            <a:r>
              <a:rPr lang="sv-SE" sz="1600" dirty="0"/>
              <a:t> to understand, fit in </a:t>
            </a:r>
            <a:r>
              <a:rPr lang="sv-SE" sz="1600" dirty="0" err="1"/>
              <a:t>time</a:t>
            </a:r>
            <a:r>
              <a:rPr lang="sv-SE" sz="1600" dirty="0"/>
              <a:t>!</a:t>
            </a:r>
            <a:endParaRPr lang="sv-SE" sz="1600" dirty="0"/>
          </a:p>
          <a:p>
            <a:endParaRPr lang="sv-SE" sz="2000" dirty="0"/>
          </a:p>
          <a:p>
            <a:r>
              <a:rPr lang="sv-SE" sz="2000" b="1" dirty="0" err="1">
                <a:solidFill>
                  <a:srgbClr val="C00000"/>
                </a:solidFill>
              </a:rPr>
              <a:t>Mandatory</a:t>
            </a:r>
            <a:r>
              <a:rPr lang="sv-SE" sz="2000" b="1" dirty="0">
                <a:solidFill>
                  <a:srgbClr val="C00000"/>
                </a:solidFill>
              </a:rPr>
              <a:t> to </a:t>
            </a:r>
            <a:r>
              <a:rPr lang="sv-SE" sz="2000" b="1" dirty="0" err="1">
                <a:solidFill>
                  <a:srgbClr val="C00000"/>
                </a:solidFill>
              </a:rPr>
              <a:t>attend</a:t>
            </a:r>
            <a:r>
              <a:rPr lang="sv-SE" sz="2000" b="1" dirty="0">
                <a:solidFill>
                  <a:srgbClr val="C00000"/>
                </a:solidFill>
              </a:rPr>
              <a:t> all sessions </a:t>
            </a:r>
            <a:r>
              <a:rPr lang="sv-SE" sz="2000" b="1" dirty="0" err="1">
                <a:solidFill>
                  <a:srgbClr val="C00000"/>
                </a:solidFill>
              </a:rPr>
              <a:t>of</a:t>
            </a:r>
            <a:r>
              <a:rPr lang="sv-SE" sz="2000" b="1" dirty="0">
                <a:solidFill>
                  <a:srgbClr val="C00000"/>
                </a:solidFill>
              </a:rPr>
              <a:t> </a:t>
            </a:r>
            <a:r>
              <a:rPr lang="sv-SE" sz="2000" b="1" dirty="0" err="1">
                <a:solidFill>
                  <a:srgbClr val="C00000"/>
                </a:solidFill>
              </a:rPr>
              <a:t>your</a:t>
            </a:r>
            <a:r>
              <a:rPr lang="sv-SE" sz="2000" b="1" dirty="0">
                <a:solidFill>
                  <a:srgbClr val="C00000"/>
                </a:solidFill>
              </a:rPr>
              <a:t> </a:t>
            </a:r>
            <a:r>
              <a:rPr lang="sv-SE" sz="2000" b="1" dirty="0" err="1">
                <a:solidFill>
                  <a:srgbClr val="C00000"/>
                </a:solidFill>
              </a:rPr>
              <a:t>group</a:t>
            </a:r>
            <a:r>
              <a:rPr lang="sv-SE" sz="2000" b="1" dirty="0">
                <a:solidFill>
                  <a:srgbClr val="C00000"/>
                </a:solidFill>
              </a:rPr>
              <a:t>!</a:t>
            </a:r>
            <a:endParaRPr lang="sv-SE" sz="2000" b="1" dirty="0">
              <a:solidFill>
                <a:srgbClr val="C00000"/>
              </a:solidFill>
            </a:endParaRPr>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2" dur="500"/>
                                        <p:tgtEl>
                                          <p:spTgt spid="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randombar(horizontal)">
                                      <p:cBhvr>
                                        <p:cTn id="17" dur="500"/>
                                        <p:tgtEl>
                                          <p:spTgt spid="3">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randombar(horizontal)">
                                      <p:cBhvr>
                                        <p:cTn id="22" dur="500"/>
                                        <p:tgtEl>
                                          <p:spTgt spid="3">
                                            <p:txEl>
                                              <p:pRg st="9" end="9"/>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25" dur="500"/>
                                        <p:tgtEl>
                                          <p:spTgt spid="3">
                                            <p:txEl>
                                              <p:pRg st="10" end="10"/>
                                            </p:txEl>
                                          </p:spTgt>
                                        </p:tgtEl>
                                      </p:cBhvr>
                                    </p:animEffect>
                                  </p:childTnLst>
                                </p:cTn>
                              </p:par>
                              <p:par>
                                <p:cTn id="26" presetID="14" presetClass="entr" presetSubtype="10" fill="hold" nodeType="withEffect">
                                  <p:stCondLst>
                                    <p:cond delay="0"/>
                                  </p:stCondLst>
                                  <p:childTnLst>
                                    <p:set>
                                      <p:cBhvr>
                                        <p:cTn id="27" dur="1" fill="hold">
                                          <p:stCondLst>
                                            <p:cond delay="0"/>
                                          </p:stCondLst>
                                        </p:cTn>
                                        <p:tgtEl>
                                          <p:spTgt spid="3">
                                            <p:txEl>
                                              <p:pRg st="12" end="12"/>
                                            </p:txEl>
                                          </p:spTgt>
                                        </p:tgtEl>
                                        <p:attrNameLst>
                                          <p:attrName>style.visibility</p:attrName>
                                        </p:attrNameLst>
                                      </p:cBhvr>
                                      <p:to>
                                        <p:strVal val="visible"/>
                                      </p:to>
                                    </p:set>
                                    <p:animEffect transition="in" filter="randombar(horizontal)">
                                      <p:cBhvr>
                                        <p:cTn id="28"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GB" dirty="0"/>
              <a:t>Part 3: Main work, second phase</a:t>
            </a:r>
            <a:endParaRPr lang="sv-SE" dirty="0"/>
          </a:p>
        </p:txBody>
      </p:sp>
      <p:sp>
        <p:nvSpPr>
          <p:cNvPr id="3" name="Platshållare för innehåll 2"/>
          <p:cNvSpPr>
            <a:spLocks noGrp="1"/>
          </p:cNvSpPr>
          <p:nvPr>
            <p:ph idx="1"/>
          </p:nvPr>
        </p:nvSpPr>
        <p:spPr>
          <a:xfrm>
            <a:off x="457200" y="3861048"/>
            <a:ext cx="8229600" cy="2265115"/>
          </a:xfrm>
        </p:spPr>
        <p:txBody>
          <a:bodyPr>
            <a:normAutofit/>
          </a:bodyPr>
          <a:lstStyle/>
          <a:p>
            <a:r>
              <a:rPr lang="en-US" sz="2000" dirty="0"/>
              <a:t>Take aspects from the mid-term report seminar into account.</a:t>
            </a:r>
            <a:endParaRPr lang="en-GB" sz="2000" dirty="0"/>
          </a:p>
          <a:p>
            <a:r>
              <a:rPr lang="en-GB" sz="2000" dirty="0"/>
              <a:t>Work with your project (simulation, reflection, discussion, documenting)</a:t>
            </a:r>
            <a:endParaRPr lang="en-GB" sz="2000" dirty="0"/>
          </a:p>
          <a:p>
            <a:r>
              <a:rPr lang="en-GB" sz="2000" dirty="0"/>
              <a:t>Parts of the thesis text need to be sent to the supervisor regularly</a:t>
            </a:r>
            <a:endParaRPr lang="en-GB" sz="2000" dirty="0"/>
          </a:p>
          <a:p>
            <a:r>
              <a:rPr lang="en-US" sz="2000" dirty="0"/>
              <a:t>Write draft pages containing results and their analysis </a:t>
            </a:r>
            <a:endParaRPr lang="en-US" sz="2000" dirty="0"/>
          </a:p>
          <a:p>
            <a:r>
              <a:rPr lang="en-US" sz="2000" dirty="0"/>
              <a:t>Organize a regular supervision</a:t>
            </a:r>
            <a:endParaRPr lang="en-US" sz="2000" dirty="0"/>
          </a:p>
          <a:p>
            <a:endParaRPr lang="sv-SE" sz="2000" dirty="0"/>
          </a:p>
        </p:txBody>
      </p:sp>
      <p:sp>
        <p:nvSpPr>
          <p:cNvPr id="4" name="Platshållare för sidfot 3"/>
          <p:cNvSpPr>
            <a:spLocks noGrp="1"/>
          </p:cNvSpPr>
          <p:nvPr>
            <p:ph type="ftr" sz="quarter" idx="11"/>
          </p:nvPr>
        </p:nvSpPr>
        <p:spPr/>
        <p:txBody>
          <a:bodyPr/>
          <a:lstStyle/>
          <a:p>
            <a:r>
              <a:rPr lang="sv-SE"/>
              <a:t>732A64</a:t>
            </a:r>
            <a:endParaRPr lang="sv-SE" dirty="0"/>
          </a:p>
        </p:txBody>
      </p:sp>
      <p:sp>
        <p:nvSpPr>
          <p:cNvPr id="8" name="Rektangel 7"/>
          <p:cNvSpPr/>
          <p:nvPr/>
        </p:nvSpPr>
        <p:spPr>
          <a:xfrm>
            <a:off x="1115616" y="1705385"/>
            <a:ext cx="5958408" cy="369332"/>
          </a:xfrm>
          <a:prstGeom prst="rect">
            <a:avLst/>
          </a:prstGeom>
        </p:spPr>
        <p:txBody>
          <a:bodyPr wrap="square">
            <a:spAutoFit/>
          </a:bodyPr>
          <a:lstStyle/>
          <a:p>
            <a:r>
              <a:rPr lang="sv-SE" b="1" dirty="0" err="1">
                <a:solidFill>
                  <a:srgbClr val="0000FF"/>
                </a:solidFill>
              </a:rPr>
              <a:t>Time</a:t>
            </a:r>
            <a:r>
              <a:rPr lang="sv-SE" b="1" dirty="0">
                <a:solidFill>
                  <a:srgbClr val="0000FF"/>
                </a:solidFill>
              </a:rPr>
              <a:t> </a:t>
            </a:r>
            <a:r>
              <a:rPr lang="sv-SE" b="1" dirty="0" err="1">
                <a:solidFill>
                  <a:srgbClr val="0000FF"/>
                </a:solidFill>
              </a:rPr>
              <a:t>frame</a:t>
            </a:r>
            <a:r>
              <a:rPr lang="sv-SE" b="1" dirty="0">
                <a:solidFill>
                  <a:srgbClr val="0000FF"/>
                </a:solidFill>
              </a:rPr>
              <a:t>: Mid-term </a:t>
            </a:r>
            <a:r>
              <a:rPr lang="sv-SE" b="1" dirty="0" err="1">
                <a:solidFill>
                  <a:srgbClr val="0000FF"/>
                </a:solidFill>
              </a:rPr>
              <a:t>seminar</a:t>
            </a:r>
            <a:r>
              <a:rPr lang="sv-SE" b="1" dirty="0">
                <a:solidFill>
                  <a:srgbClr val="0000FF"/>
                </a:solidFill>
              </a:rPr>
              <a:t> – revision meeting</a:t>
            </a:r>
            <a:endParaRPr lang="sv-SE" b="1" dirty="0">
              <a:solidFill>
                <a:srgbClr val="0000FF"/>
              </a:solidFill>
            </a:endParaRPr>
          </a:p>
        </p:txBody>
      </p:sp>
      <p:graphicFrame>
        <p:nvGraphicFramePr>
          <p:cNvPr id="5" name="Table 4"/>
          <p:cNvGraphicFramePr>
            <a:graphicFrameLocks noGrp="1"/>
          </p:cNvGraphicFramePr>
          <p:nvPr/>
        </p:nvGraphicFramePr>
        <p:xfrm>
          <a:off x="539552" y="2136463"/>
          <a:ext cx="7659510" cy="1430104"/>
        </p:xfrm>
        <a:graphic>
          <a:graphicData uri="http://schemas.openxmlformats.org/drawingml/2006/table">
            <a:tbl>
              <a:tblPr firstRow="1" firstCol="1" bandRow="1">
                <a:tableStyleId>{5C22544A-7EE6-4342-B048-85BDC9FD1C3A}</a:tableStyleId>
              </a:tblPr>
              <a:tblGrid>
                <a:gridCol w="1250532"/>
                <a:gridCol w="6408978"/>
              </a:tblGrid>
              <a:tr h="192059">
                <a:tc>
                  <a:txBody>
                    <a:bodyPr/>
                    <a:lstStyle/>
                    <a:p>
                      <a:pPr>
                        <a:lnSpc>
                          <a:spcPct val="107000"/>
                        </a:lnSpc>
                        <a:spcAft>
                          <a:spcPts val="800"/>
                        </a:spcAft>
                        <a:buNone/>
                      </a:pPr>
                      <a:endParaRPr lang="sv-SE" sz="1100" b="1"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b="1" kern="100" dirty="0">
                        <a:effectLst/>
                      </a:endParaRPr>
                    </a:p>
                  </a:txBody>
                  <a:tcPr marL="0" marR="0" marT="0" marB="0" anchor="ctr"/>
                </a:tc>
              </a:tr>
              <a:tr h="185531">
                <a:tc>
                  <a:txBody>
                    <a:bodyPr/>
                    <a:lstStyle/>
                    <a:p>
                      <a:pPr>
                        <a:lnSpc>
                          <a:spcPct val="107000"/>
                        </a:lnSpc>
                        <a:spcAft>
                          <a:spcPts val="800"/>
                        </a:spcAft>
                        <a:buNone/>
                      </a:pPr>
                      <a:r>
                        <a:rPr lang="sv-SE" sz="1100" kern="100" dirty="0">
                          <a:effectLst/>
                        </a:rPr>
                        <a:t>April 24</a:t>
                      </a: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en-GB" sz="1100" kern="100" dirty="0">
                          <a:effectLst/>
                        </a:rPr>
                        <a:t>Sending a thesis draft to the supervisor by email unless the supervisor states otherwise.</a:t>
                      </a: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336001">
                <a:tc>
                  <a:txBody>
                    <a:bodyPr/>
                    <a:lstStyle/>
                    <a:p>
                      <a:pPr>
                        <a:lnSpc>
                          <a:spcPct val="107000"/>
                        </a:lnSpc>
                        <a:spcAft>
                          <a:spcPts val="800"/>
                        </a:spcAft>
                        <a:buNone/>
                      </a:pPr>
                      <a:r>
                        <a:rPr lang="sv-SE" sz="1100" kern="100">
                          <a:effectLst/>
                        </a:rPr>
                        <a:t>April 30</a:t>
                      </a: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en-GB" sz="1100" kern="100" dirty="0">
                          <a:effectLst/>
                        </a:rPr>
                        <a:t>Decision is made by the supervisor regarding whether the thesis has good chances to be passed within the course time frames or the thesis work needs to be stopped and grade F given.</a:t>
                      </a: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200718">
                <a:tc>
                  <a:txBody>
                    <a:bodyPr/>
                    <a:lstStyle/>
                    <a:p>
                      <a:pPr>
                        <a:lnSpc>
                          <a:spcPct val="107000"/>
                        </a:lnSpc>
                        <a:spcAft>
                          <a:spcPts val="800"/>
                        </a:spcAft>
                        <a:buNone/>
                      </a:pPr>
                      <a:r>
                        <a:rPr lang="sv-SE" sz="1100" kern="100">
                          <a:effectLst/>
                        </a:rPr>
                        <a:t>May 4</a:t>
                      </a: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en-GB" sz="1100" kern="100">
                          <a:effectLst/>
                        </a:rPr>
                        <a:t>Sending a complete thesis draft (it may not contain any missing part) to the opponent, examiner and supervisor by email</a:t>
                      </a: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342889">
                <a:tc>
                  <a:txBody>
                    <a:bodyPr/>
                    <a:lstStyle/>
                    <a:p>
                      <a:pPr>
                        <a:lnSpc>
                          <a:spcPct val="107000"/>
                        </a:lnSpc>
                        <a:spcAft>
                          <a:spcPts val="800"/>
                        </a:spcAft>
                        <a:buNone/>
                      </a:pPr>
                      <a:r>
                        <a:rPr lang="sv-SE" sz="1100" b="1" kern="100">
                          <a:effectLst/>
                        </a:rPr>
                        <a:t>May 11 or 12 or 13</a:t>
                      </a:r>
                      <a:endParaRPr lang="sv-SE" sz="1100" b="1"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en-GB" sz="1100" b="1" kern="100" dirty="0">
                          <a:effectLst/>
                        </a:rPr>
                        <a:t>Revision meeting. Mandatory, but the concrete date and place is to be negotiated between the student, opponent, examiner and supervisor</a:t>
                      </a:r>
                      <a:endParaRPr lang="sv-SE" sz="1100" b="1"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GB" dirty="0"/>
              <a:t>Part 3: Main work, second phase</a:t>
            </a:r>
            <a:endParaRPr lang="sv-SE" dirty="0"/>
          </a:p>
        </p:txBody>
      </p:sp>
      <p:sp>
        <p:nvSpPr>
          <p:cNvPr id="3" name="Platshållare för innehåll 2"/>
          <p:cNvSpPr>
            <a:spLocks noGrp="1"/>
          </p:cNvSpPr>
          <p:nvPr>
            <p:ph idx="1"/>
          </p:nvPr>
        </p:nvSpPr>
        <p:spPr/>
        <p:txBody>
          <a:bodyPr>
            <a:normAutofit fontScale="92500" lnSpcReduction="10000"/>
          </a:bodyPr>
          <a:lstStyle/>
          <a:p>
            <a:r>
              <a:rPr lang="en-US" sz="2000" dirty="0"/>
              <a:t>Prepare the skeleton of your final thesis and include the parts that are already written </a:t>
            </a:r>
            <a:r>
              <a:rPr lang="en-US" sz="2000" dirty="0">
                <a:sym typeface="Wingdings" panose="05000000000000000000" pitchFamily="2" charset="2"/>
              </a:rPr>
              <a:t> obtain a thesis draft</a:t>
            </a:r>
            <a:endParaRPr lang="en-US" sz="2000" dirty="0"/>
          </a:p>
          <a:p>
            <a:endParaRPr lang="en-GB" sz="2000" dirty="0"/>
          </a:p>
          <a:p>
            <a:r>
              <a:rPr lang="en-GB" sz="2000" dirty="0"/>
              <a:t>Some parts (for ex. Conclusions, discussions) can be missing but the draft needs to be complete enough for a supervisor to make decision</a:t>
            </a:r>
            <a:endParaRPr lang="en-GB" sz="2000" dirty="0"/>
          </a:p>
          <a:p>
            <a:endParaRPr lang="en-GB" sz="2000" dirty="0"/>
          </a:p>
          <a:p>
            <a:r>
              <a:rPr lang="en-GB" sz="2000" dirty="0"/>
              <a:t>Send this draft to the supervisor unless you got different instructions from the supervisor</a:t>
            </a:r>
            <a:endParaRPr lang="en-GB" sz="2000" dirty="0"/>
          </a:p>
          <a:p>
            <a:endParaRPr lang="en-GB" sz="2000" dirty="0"/>
          </a:p>
          <a:p>
            <a:r>
              <a:rPr lang="en-US" sz="2000" dirty="0"/>
              <a:t>Decision is made by the supervisor regarding whether the thesis has </a:t>
            </a:r>
            <a:br>
              <a:rPr lang="en-US" sz="2000" dirty="0"/>
            </a:br>
            <a:r>
              <a:rPr lang="en-US" sz="2000" dirty="0"/>
              <a:t>good chances to be passed within the course time frames or </a:t>
            </a:r>
            <a:br>
              <a:rPr lang="en-US" sz="2000" dirty="0"/>
            </a:br>
            <a:r>
              <a:rPr lang="en-US" sz="2000" dirty="0"/>
              <a:t>the thesis work needs to be stopped and grade F given.</a:t>
            </a:r>
            <a:endParaRPr lang="en-US" sz="2000" dirty="0"/>
          </a:p>
          <a:p>
            <a:endParaRPr lang="en-US" sz="2000" dirty="0"/>
          </a:p>
          <a:p>
            <a:r>
              <a:rPr lang="en-US" sz="2000" dirty="0"/>
              <a:t>If failed, you may start new thesis work based on new project in the next term.</a:t>
            </a:r>
            <a:endParaRPr lang="en-US" sz="2000" dirty="0"/>
          </a:p>
          <a:p>
            <a:endParaRPr lang="en-GB" sz="2400" dirty="0"/>
          </a:p>
          <a:p>
            <a:endParaRPr lang="sv-SE" sz="2400" dirty="0"/>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17" dur="5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randombar(horizontal)">
                                      <p:cBhvr>
                                        <p:cTn id="2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GB" dirty="0"/>
              <a:t>Part 3: </a:t>
            </a:r>
            <a:r>
              <a:rPr lang="sv-SE" dirty="0"/>
              <a:t>Main </a:t>
            </a:r>
            <a:r>
              <a:rPr lang="sv-SE" dirty="0" err="1"/>
              <a:t>work</a:t>
            </a:r>
            <a:r>
              <a:rPr lang="sv-SE" dirty="0"/>
              <a:t>, second </a:t>
            </a:r>
            <a:r>
              <a:rPr lang="sv-SE" dirty="0" err="1"/>
              <a:t>phase</a:t>
            </a:r>
            <a:endParaRPr lang="sv-SE" dirty="0"/>
          </a:p>
        </p:txBody>
      </p:sp>
      <p:sp>
        <p:nvSpPr>
          <p:cNvPr id="3" name="Platshållare för innehåll 2"/>
          <p:cNvSpPr>
            <a:spLocks noGrp="1"/>
          </p:cNvSpPr>
          <p:nvPr>
            <p:ph idx="1"/>
          </p:nvPr>
        </p:nvSpPr>
        <p:spPr>
          <a:xfrm>
            <a:off x="395536" y="1860310"/>
            <a:ext cx="8229600" cy="4104456"/>
          </a:xfrm>
        </p:spPr>
        <p:txBody>
          <a:bodyPr>
            <a:normAutofit/>
          </a:bodyPr>
          <a:lstStyle/>
          <a:p>
            <a:r>
              <a:rPr lang="sv-SE" sz="2000" dirty="0" err="1"/>
              <a:t>Work</a:t>
            </a:r>
            <a:r>
              <a:rPr lang="sv-SE" sz="2000" dirty="0"/>
              <a:t> on </a:t>
            </a:r>
            <a:r>
              <a:rPr lang="sv-SE" sz="2000" dirty="0" err="1"/>
              <a:t>your</a:t>
            </a:r>
            <a:r>
              <a:rPr lang="sv-SE" sz="2000" dirty="0"/>
              <a:t> </a:t>
            </a:r>
            <a:r>
              <a:rPr lang="sv-SE" sz="2000" dirty="0" err="1"/>
              <a:t>thesis</a:t>
            </a:r>
            <a:r>
              <a:rPr lang="sv-SE" sz="2000" dirty="0"/>
              <a:t> and </a:t>
            </a:r>
            <a:r>
              <a:rPr lang="sv-SE" sz="2000" dirty="0" err="1"/>
              <a:t>complete</a:t>
            </a:r>
            <a:r>
              <a:rPr lang="sv-SE" sz="2000" dirty="0"/>
              <a:t> the </a:t>
            </a:r>
            <a:r>
              <a:rPr lang="sv-SE" sz="2000" dirty="0" err="1"/>
              <a:t>remaining</a:t>
            </a:r>
            <a:r>
              <a:rPr lang="sv-SE" sz="2000" dirty="0"/>
              <a:t> parts </a:t>
            </a:r>
            <a:r>
              <a:rPr lang="sv-SE" sz="2000" dirty="0" err="1"/>
              <a:t>of</a:t>
            </a:r>
            <a:r>
              <a:rPr lang="sv-SE" sz="2000" dirty="0"/>
              <a:t> </a:t>
            </a:r>
            <a:r>
              <a:rPr lang="sv-SE" sz="2000" dirty="0" err="1"/>
              <a:t>your</a:t>
            </a:r>
            <a:r>
              <a:rPr lang="sv-SE" sz="2000" dirty="0"/>
              <a:t> draft:</a:t>
            </a:r>
            <a:endParaRPr lang="sv-SE" sz="2000" dirty="0"/>
          </a:p>
          <a:p>
            <a:pPr lvl="1"/>
            <a:r>
              <a:rPr lang="en-US" sz="1600" dirty="0"/>
              <a:t>Finalize your analyses and complete the results part of your thesis.</a:t>
            </a:r>
            <a:endParaRPr lang="en-US" sz="1600" dirty="0"/>
          </a:p>
          <a:p>
            <a:pPr lvl="1"/>
            <a:r>
              <a:rPr lang="en-US" sz="1600" dirty="0"/>
              <a:t>Finalize the methodology chapter and the reference list of your thesis.</a:t>
            </a:r>
            <a:endParaRPr lang="en-US" sz="1600" dirty="0"/>
          </a:p>
          <a:p>
            <a:pPr lvl="1"/>
            <a:r>
              <a:rPr lang="en-US" sz="1600" dirty="0"/>
              <a:t>Put strong effort on writing a good discussion part, consider limitations of your approaches, methods and algorithms. It should comprise several pages.</a:t>
            </a:r>
            <a:endParaRPr lang="en-US" sz="1600" dirty="0"/>
          </a:p>
          <a:p>
            <a:pPr lvl="1"/>
            <a:r>
              <a:rPr lang="en-US" sz="1600" dirty="0"/>
              <a:t>Formulate your conclusions.</a:t>
            </a:r>
            <a:endParaRPr lang="en-US" sz="1600" dirty="0"/>
          </a:p>
          <a:p>
            <a:pPr lvl="2"/>
            <a:r>
              <a:rPr lang="en-US" sz="1200" dirty="0"/>
              <a:t>One paragraph of Conclusions = One research objective</a:t>
            </a:r>
            <a:endParaRPr lang="en-US" sz="1200" dirty="0"/>
          </a:p>
          <a:p>
            <a:pPr lvl="1"/>
            <a:r>
              <a:rPr lang="en-US" sz="1600" b="1" dirty="0">
                <a:solidFill>
                  <a:srgbClr val="FF0000"/>
                </a:solidFill>
              </a:rPr>
              <a:t>Write section about whether Generative AI was used and how it was used – obligatory!</a:t>
            </a:r>
            <a:endParaRPr lang="en-US" sz="1600" b="1" dirty="0">
              <a:solidFill>
                <a:srgbClr val="FF0000"/>
              </a:solidFill>
            </a:endParaRPr>
          </a:p>
          <a:p>
            <a:pPr lvl="1"/>
            <a:r>
              <a:rPr lang="en-US" sz="1600" b="1" dirty="0">
                <a:solidFill>
                  <a:srgbClr val="FF0000"/>
                </a:solidFill>
              </a:rPr>
              <a:t>Write “Ethical considerations” section – obligatory!</a:t>
            </a:r>
            <a:endParaRPr lang="en-US" sz="1600" b="1" dirty="0">
              <a:solidFill>
                <a:srgbClr val="FF0000"/>
              </a:solidFill>
            </a:endParaRPr>
          </a:p>
          <a:p>
            <a:pPr lvl="1"/>
            <a:endParaRPr lang="sv-SE" sz="1600" dirty="0"/>
          </a:p>
          <a:p>
            <a:r>
              <a:rPr lang="sv-SE" sz="2000" dirty="0"/>
              <a:t>A </a:t>
            </a:r>
            <a:r>
              <a:rPr lang="sv-SE" sz="2000" dirty="0" err="1"/>
              <a:t>thesis</a:t>
            </a:r>
            <a:r>
              <a:rPr lang="sv-SE" sz="2000" dirty="0"/>
              <a:t> draft is sent to the opponent, </a:t>
            </a:r>
            <a:r>
              <a:rPr lang="sv-SE" sz="2000" dirty="0" err="1"/>
              <a:t>examiner</a:t>
            </a:r>
            <a:r>
              <a:rPr lang="sv-SE" sz="2000" dirty="0"/>
              <a:t> and the supervisor</a:t>
            </a:r>
            <a:endParaRPr lang="sv-SE" sz="2000" dirty="0"/>
          </a:p>
          <a:p>
            <a:pPr lvl="1"/>
            <a:r>
              <a:rPr lang="sv-SE" sz="1600" b="1" dirty="0" err="1">
                <a:solidFill>
                  <a:srgbClr val="FF0000"/>
                </a:solidFill>
              </a:rPr>
              <a:t>Should</a:t>
            </a:r>
            <a:r>
              <a:rPr lang="sv-SE" sz="1600" b="1" dirty="0">
                <a:solidFill>
                  <a:srgbClr val="FF0000"/>
                </a:solidFill>
              </a:rPr>
              <a:t> not </a:t>
            </a:r>
            <a:r>
              <a:rPr lang="sv-SE" sz="1600" b="1" dirty="0" err="1">
                <a:solidFill>
                  <a:srgbClr val="FF0000"/>
                </a:solidFill>
              </a:rPr>
              <a:t>contain</a:t>
            </a:r>
            <a:r>
              <a:rPr lang="sv-SE" sz="1600" b="1" dirty="0">
                <a:solidFill>
                  <a:srgbClr val="FF0000"/>
                </a:solidFill>
              </a:rPr>
              <a:t> </a:t>
            </a:r>
            <a:r>
              <a:rPr lang="sv-SE" sz="1600" b="1" dirty="0" err="1">
                <a:solidFill>
                  <a:srgbClr val="FF0000"/>
                </a:solidFill>
              </a:rPr>
              <a:t>missing</a:t>
            </a:r>
            <a:r>
              <a:rPr lang="sv-SE" sz="1600" b="1" dirty="0">
                <a:solidFill>
                  <a:srgbClr val="FF0000"/>
                </a:solidFill>
              </a:rPr>
              <a:t> parts, </a:t>
            </a:r>
            <a:r>
              <a:rPr lang="sv-SE" sz="1600" b="1" dirty="0" err="1">
                <a:solidFill>
                  <a:srgbClr val="FF0000"/>
                </a:solidFill>
              </a:rPr>
              <a:t>i.e</a:t>
            </a:r>
            <a:r>
              <a:rPr lang="sv-SE" sz="1600" b="1" dirty="0">
                <a:solidFill>
                  <a:srgbClr val="FF0000"/>
                </a:solidFill>
              </a:rPr>
              <a:t> </a:t>
            </a:r>
            <a:r>
              <a:rPr lang="sv-SE" sz="1600" b="1" dirty="0" err="1">
                <a:solidFill>
                  <a:srgbClr val="FF0000"/>
                </a:solidFill>
              </a:rPr>
              <a:t>this</a:t>
            </a:r>
            <a:r>
              <a:rPr lang="sv-SE" sz="1600" b="1" dirty="0">
                <a:solidFill>
                  <a:srgbClr val="FF0000"/>
                </a:solidFill>
              </a:rPr>
              <a:t> draft </a:t>
            </a:r>
            <a:r>
              <a:rPr lang="sv-SE" sz="1600" b="1" dirty="0" err="1">
                <a:solidFill>
                  <a:srgbClr val="FF0000"/>
                </a:solidFill>
              </a:rPr>
              <a:t>shall</a:t>
            </a:r>
            <a:r>
              <a:rPr lang="sv-SE" sz="1600" b="1" dirty="0">
                <a:solidFill>
                  <a:srgbClr val="FF0000"/>
                </a:solidFill>
              </a:rPr>
              <a:t> be </a:t>
            </a:r>
            <a:r>
              <a:rPr lang="sv-SE" sz="1600" b="1" dirty="0" err="1">
                <a:solidFill>
                  <a:srgbClr val="FF0000"/>
                </a:solidFill>
              </a:rPr>
              <a:t>complete</a:t>
            </a:r>
            <a:r>
              <a:rPr lang="sv-SE" sz="1600" b="1" dirty="0">
                <a:solidFill>
                  <a:srgbClr val="FF0000"/>
                </a:solidFill>
              </a:rPr>
              <a:t>!</a:t>
            </a:r>
            <a:endParaRPr lang="sv-SE" sz="1600" b="1" dirty="0">
              <a:solidFill>
                <a:srgbClr val="FF0000"/>
              </a:solidFill>
            </a:endParaRPr>
          </a:p>
          <a:p>
            <a:pPr lvl="1"/>
            <a:r>
              <a:rPr lang="sv-SE" sz="1600" dirty="0" err="1"/>
              <a:t>Should</a:t>
            </a:r>
            <a:r>
              <a:rPr lang="sv-SE" sz="1600" dirty="0"/>
              <a:t> be </a:t>
            </a:r>
            <a:r>
              <a:rPr lang="sv-SE" sz="1600" dirty="0" err="1"/>
              <a:t>of</a:t>
            </a:r>
            <a:r>
              <a:rPr lang="sv-SE" sz="1600" dirty="0"/>
              <a:t> </a:t>
            </a:r>
            <a:r>
              <a:rPr lang="sv-SE" sz="1600" dirty="0" err="1"/>
              <a:t>high</a:t>
            </a:r>
            <a:r>
              <a:rPr lang="sv-SE" sz="1600" dirty="0"/>
              <a:t> </a:t>
            </a:r>
            <a:r>
              <a:rPr lang="sv-SE" sz="1600" dirty="0" err="1"/>
              <a:t>quality</a:t>
            </a:r>
            <a:r>
              <a:rPr lang="sv-SE" sz="1600" dirty="0"/>
              <a:t> </a:t>
            </a:r>
            <a:r>
              <a:rPr lang="sv-SE" sz="1600" dirty="0">
                <a:sym typeface="Wingdings" panose="05000000000000000000" pitchFamily="2" charset="2"/>
              </a:rPr>
              <a:t> </a:t>
            </a:r>
            <a:r>
              <a:rPr lang="sv-SE" sz="1600" dirty="0" err="1">
                <a:sym typeface="Wingdings" panose="05000000000000000000" pitchFamily="2" charset="2"/>
              </a:rPr>
              <a:t>This</a:t>
            </a:r>
            <a:r>
              <a:rPr lang="sv-SE" sz="1600" dirty="0">
                <a:sym typeface="Wingdings" panose="05000000000000000000" pitchFamily="2" charset="2"/>
              </a:rPr>
              <a:t> version </a:t>
            </a:r>
            <a:r>
              <a:rPr lang="sv-SE" sz="1600" dirty="0" err="1">
                <a:sym typeface="Wingdings" panose="05000000000000000000" pitchFamily="2" charset="2"/>
              </a:rPr>
              <a:t>of</a:t>
            </a:r>
            <a:r>
              <a:rPr lang="sv-SE" sz="1600" dirty="0">
                <a:sym typeface="Wingdings" panose="05000000000000000000" pitchFamily="2" charset="2"/>
              </a:rPr>
              <a:t> the draft is </a:t>
            </a:r>
            <a:r>
              <a:rPr lang="sv-SE" sz="1600" b="1" dirty="0" err="1">
                <a:solidFill>
                  <a:srgbClr val="0000FF"/>
                </a:solidFill>
                <a:sym typeface="Wingdings" panose="05000000000000000000" pitchFamily="2" charset="2"/>
              </a:rPr>
              <a:t>evaluated</a:t>
            </a:r>
            <a:r>
              <a:rPr lang="sv-SE" sz="1600" b="1" dirty="0">
                <a:solidFill>
                  <a:srgbClr val="0000FF"/>
                </a:solidFill>
                <a:sym typeface="Wingdings" panose="05000000000000000000" pitchFamily="2" charset="2"/>
              </a:rPr>
              <a:t> by the </a:t>
            </a:r>
            <a:r>
              <a:rPr lang="sv-SE" sz="1600" b="1" dirty="0" err="1">
                <a:solidFill>
                  <a:srgbClr val="0000FF"/>
                </a:solidFill>
                <a:sym typeface="Wingdings" panose="05000000000000000000" pitchFamily="2" charset="2"/>
              </a:rPr>
              <a:t>examiner</a:t>
            </a:r>
            <a:r>
              <a:rPr lang="sv-SE" sz="1600" b="1" dirty="0">
                <a:solidFill>
                  <a:srgbClr val="0000FF"/>
                </a:solidFill>
                <a:sym typeface="Wingdings" panose="05000000000000000000" pitchFamily="2" charset="2"/>
              </a:rPr>
              <a:t> </a:t>
            </a:r>
            <a:endParaRPr lang="sv-SE" sz="1600" dirty="0"/>
          </a:p>
          <a:p>
            <a:endParaRPr lang="sv-SE" sz="2000" dirty="0"/>
          </a:p>
          <a:p>
            <a:pPr lvl="1"/>
            <a:endParaRPr lang="sv-SE" sz="1600" dirty="0"/>
          </a:p>
          <a:p>
            <a:endParaRPr lang="sv-SE" sz="2000" dirty="0"/>
          </a:p>
          <a:p>
            <a:pPr lvl="1"/>
            <a:endParaRPr lang="sv-SE" sz="1600" dirty="0"/>
          </a:p>
          <a:p>
            <a:endParaRPr lang="sv-SE" dirty="0"/>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500"/>
                                        <p:tgtEl>
                                          <p:spTgt spid="3">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3" dur="500"/>
                                        <p:tgtEl>
                                          <p:spTgt spid="3">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6" dur="500"/>
                                        <p:tgtEl>
                                          <p:spTgt spid="3">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9" dur="500"/>
                                        <p:tgtEl>
                                          <p:spTgt spid="3">
                                            <p:txEl>
                                              <p:pRg st="4" end="4"/>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2" dur="500"/>
                                        <p:tgtEl>
                                          <p:spTgt spid="3">
                                            <p:txEl>
                                              <p:pRg st="5" end="5"/>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5" dur="500"/>
                                        <p:tgtEl>
                                          <p:spTgt spid="3">
                                            <p:txEl>
                                              <p:pRg st="6" end="6"/>
                                            </p:txEl>
                                          </p:spTgt>
                                        </p:tgtEl>
                                      </p:cBhvr>
                                    </p:animEffect>
                                  </p:childTnLst>
                                </p:cTn>
                              </p:par>
                              <p:par>
                                <p:cTn id="26" presetID="14" presetClass="entr" presetSubtype="1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randombar(horizontal)">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randombar(horizontal)">
                                      <p:cBhvr>
                                        <p:cTn id="33" dur="500"/>
                                        <p:tgtEl>
                                          <p:spTgt spid="3">
                                            <p:txEl>
                                              <p:pRg st="9" end="9"/>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36" dur="500"/>
                                        <p:tgtEl>
                                          <p:spTgt spid="3">
                                            <p:txEl>
                                              <p:pRg st="10" end="10"/>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Effect transition="in" filter="randombar(horizontal)">
                                      <p:cBhvr>
                                        <p:cTn id="39"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err="1"/>
              <a:t>Use</a:t>
            </a:r>
            <a:r>
              <a:rPr lang="sv-SE" dirty="0"/>
              <a:t> </a:t>
            </a:r>
            <a:r>
              <a:rPr lang="sv-SE" dirty="0" err="1"/>
              <a:t>of</a:t>
            </a:r>
            <a:r>
              <a:rPr lang="sv-SE" dirty="0"/>
              <a:t> generative AI	</a:t>
            </a:r>
            <a:endParaRPr lang="sv-SE" dirty="0"/>
          </a:p>
        </p:txBody>
      </p:sp>
      <p:sp>
        <p:nvSpPr>
          <p:cNvPr id="3" name="Platshållare för innehåll 2"/>
          <p:cNvSpPr>
            <a:spLocks noGrp="1"/>
          </p:cNvSpPr>
          <p:nvPr>
            <p:ph idx="1"/>
          </p:nvPr>
        </p:nvSpPr>
        <p:spPr/>
        <p:txBody>
          <a:bodyPr>
            <a:normAutofit fontScale="85000" lnSpcReduction="20000"/>
          </a:bodyPr>
          <a:lstStyle/>
          <a:p>
            <a:r>
              <a:rPr lang="en-US" dirty="0"/>
              <a:t>You have the </a:t>
            </a:r>
            <a:r>
              <a:rPr lang="en-US" b="1" dirty="0"/>
              <a:t>full responsibility for your work</a:t>
            </a:r>
            <a:r>
              <a:rPr lang="en-US" dirty="0"/>
              <a:t>, and you must be able to justify the choices you have made in your thesis. Especially:</a:t>
            </a:r>
            <a:endParaRPr lang="sv-SE" dirty="0"/>
          </a:p>
          <a:p>
            <a:pPr lvl="1"/>
            <a:r>
              <a:rPr lang="en-US" dirty="0"/>
              <a:t>Do not uncritically rely on AI-generated answers since they can be biased or wrong or could just not be adequate for your thesis</a:t>
            </a:r>
            <a:endParaRPr lang="en-US" dirty="0"/>
          </a:p>
          <a:p>
            <a:pPr lvl="2"/>
            <a:r>
              <a:rPr lang="en-US" dirty="0"/>
              <a:t>E.g.: Do not trust summaries of literature – you need to look into cited material yourself! Do not use text from an AI-tool which is not relevant for your thesis!</a:t>
            </a:r>
            <a:endParaRPr lang="sv-SE" dirty="0"/>
          </a:p>
          <a:p>
            <a:pPr lvl="1"/>
            <a:r>
              <a:rPr lang="en-US" dirty="0"/>
              <a:t>Be aware of the potential for plagiarism and copyright issues since the AI-tool might have generated its answer based on published text or copyright-protected code</a:t>
            </a:r>
            <a:endParaRPr lang="sv-SE" dirty="0"/>
          </a:p>
          <a:p>
            <a:pPr lvl="1"/>
            <a:r>
              <a:rPr lang="en-US" b="1" dirty="0"/>
              <a:t>Be transparent </a:t>
            </a:r>
            <a:r>
              <a:rPr lang="en-US" dirty="0"/>
              <a:t>with the use of AI-tools: Obligatory to have a section in your thesis describing how and to what extent you have used AI-tools in your work</a:t>
            </a:r>
            <a:endParaRPr lang="sv-SE" dirty="0"/>
          </a:p>
          <a:p>
            <a:pPr lvl="1"/>
            <a:r>
              <a:rPr lang="en-US" dirty="0"/>
              <a:t>Be aware that the examiner may check your knowledge of your text/content at mid-term seminar, revision meeting, and final seminar</a:t>
            </a:r>
            <a:endParaRPr lang="sv-SE" dirty="0"/>
          </a:p>
          <a:p>
            <a:endParaRPr lang="sv-SE" dirty="0"/>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GB" dirty="0"/>
              <a:t>Part 3: </a:t>
            </a:r>
            <a:r>
              <a:rPr lang="sv-SE" dirty="0"/>
              <a:t>Main </a:t>
            </a:r>
            <a:r>
              <a:rPr lang="sv-SE" dirty="0" err="1"/>
              <a:t>work</a:t>
            </a:r>
            <a:r>
              <a:rPr lang="sv-SE" dirty="0"/>
              <a:t>, second </a:t>
            </a:r>
            <a:r>
              <a:rPr lang="sv-SE" dirty="0" err="1"/>
              <a:t>phase</a:t>
            </a:r>
            <a:endParaRPr lang="sv-SE" dirty="0"/>
          </a:p>
        </p:txBody>
      </p:sp>
      <p:sp>
        <p:nvSpPr>
          <p:cNvPr id="3" name="Platshållare för innehåll 2"/>
          <p:cNvSpPr>
            <a:spLocks noGrp="1"/>
          </p:cNvSpPr>
          <p:nvPr>
            <p:ph idx="1"/>
          </p:nvPr>
        </p:nvSpPr>
        <p:spPr/>
        <p:txBody>
          <a:bodyPr>
            <a:normAutofit fontScale="92500" lnSpcReduction="10000"/>
          </a:bodyPr>
          <a:lstStyle/>
          <a:p>
            <a:r>
              <a:rPr lang="sv-SE" sz="2400" dirty="0"/>
              <a:t>Draft is </a:t>
            </a:r>
            <a:r>
              <a:rPr lang="sv-SE" sz="2400" dirty="0" err="1"/>
              <a:t>evaluated</a:t>
            </a:r>
            <a:r>
              <a:rPr lang="sv-SE" sz="2400" dirty="0"/>
              <a:t> by the </a:t>
            </a:r>
            <a:r>
              <a:rPr lang="sv-SE" sz="2400" dirty="0" err="1"/>
              <a:t>examiner</a:t>
            </a:r>
            <a:r>
              <a:rPr lang="sv-SE" sz="2400" dirty="0"/>
              <a:t> to </a:t>
            </a:r>
            <a:r>
              <a:rPr lang="sv-SE" sz="2400" dirty="0" err="1"/>
              <a:t>see</a:t>
            </a:r>
            <a:endParaRPr lang="sv-SE" sz="2400" dirty="0"/>
          </a:p>
          <a:p>
            <a:pPr lvl="1"/>
            <a:r>
              <a:rPr lang="sv-SE" sz="2200" dirty="0" err="1"/>
              <a:t>How</a:t>
            </a:r>
            <a:r>
              <a:rPr lang="sv-SE" sz="2200" dirty="0"/>
              <a:t> </a:t>
            </a:r>
            <a:r>
              <a:rPr lang="sv-SE" sz="2200" dirty="0" err="1"/>
              <a:t>well</a:t>
            </a:r>
            <a:r>
              <a:rPr lang="sv-SE" sz="2200" dirty="0"/>
              <a:t> </a:t>
            </a:r>
            <a:r>
              <a:rPr lang="sv-SE" sz="2200" dirty="0" err="1"/>
              <a:t>you</a:t>
            </a:r>
            <a:r>
              <a:rPr lang="sv-SE" sz="2200" dirty="0"/>
              <a:t> </a:t>
            </a:r>
            <a:r>
              <a:rPr lang="sv-SE" sz="2200" dirty="0" err="1"/>
              <a:t>have</a:t>
            </a:r>
            <a:r>
              <a:rPr lang="sv-SE" sz="2200" dirty="0"/>
              <a:t> </a:t>
            </a:r>
            <a:r>
              <a:rPr lang="sv-SE" sz="2200" dirty="0" err="1"/>
              <a:t>done</a:t>
            </a:r>
            <a:r>
              <a:rPr lang="sv-SE" sz="2200" dirty="0"/>
              <a:t> at </a:t>
            </a:r>
            <a:r>
              <a:rPr lang="sv-SE" sz="2200" dirty="0" err="1"/>
              <a:t>this</a:t>
            </a:r>
            <a:r>
              <a:rPr lang="sv-SE" sz="2200" dirty="0"/>
              <a:t> </a:t>
            </a:r>
            <a:r>
              <a:rPr lang="sv-SE" sz="2200" dirty="0" err="1"/>
              <a:t>time</a:t>
            </a:r>
            <a:r>
              <a:rPr lang="sv-SE" sz="2200" dirty="0"/>
              <a:t> step (progression)</a:t>
            </a:r>
            <a:endParaRPr lang="sv-SE" sz="2200" dirty="0"/>
          </a:p>
          <a:p>
            <a:pPr lvl="1"/>
            <a:r>
              <a:rPr lang="sv-SE" sz="2200" dirty="0" err="1"/>
              <a:t>Whether</a:t>
            </a:r>
            <a:r>
              <a:rPr lang="sv-SE" sz="2200" dirty="0"/>
              <a:t> </a:t>
            </a:r>
            <a:r>
              <a:rPr lang="sv-SE" sz="2200" dirty="0" err="1"/>
              <a:t>some</a:t>
            </a:r>
            <a:r>
              <a:rPr lang="sv-SE" sz="2200" dirty="0"/>
              <a:t> </a:t>
            </a:r>
            <a:r>
              <a:rPr lang="sv-SE" sz="2200" dirty="0" err="1"/>
              <a:t>aspects</a:t>
            </a:r>
            <a:r>
              <a:rPr lang="sv-SE" sz="2200" dirty="0"/>
              <a:t> </a:t>
            </a:r>
            <a:r>
              <a:rPr lang="sv-SE" sz="2200" dirty="0" err="1"/>
              <a:t>of</a:t>
            </a:r>
            <a:r>
              <a:rPr lang="sv-SE" sz="2200" dirty="0"/>
              <a:t> the </a:t>
            </a:r>
            <a:r>
              <a:rPr lang="sv-SE" sz="2200" dirty="0" err="1"/>
              <a:t>thesis</a:t>
            </a:r>
            <a:r>
              <a:rPr lang="sv-SE" sz="2200" dirty="0"/>
              <a:t> </a:t>
            </a:r>
            <a:r>
              <a:rPr lang="sv-SE" sz="2200" dirty="0" err="1"/>
              <a:t>are</a:t>
            </a:r>
            <a:r>
              <a:rPr lang="sv-SE" sz="2200" dirty="0"/>
              <a:t> </a:t>
            </a:r>
            <a:r>
              <a:rPr lang="sv-SE" sz="2200" dirty="0" err="1"/>
              <a:t>of</a:t>
            </a:r>
            <a:r>
              <a:rPr lang="sv-SE" sz="2200" dirty="0"/>
              <a:t> </a:t>
            </a:r>
            <a:r>
              <a:rPr lang="sv-SE" sz="2200" dirty="0" err="1"/>
              <a:t>poor</a:t>
            </a:r>
            <a:r>
              <a:rPr lang="sv-SE" sz="2200" dirty="0"/>
              <a:t> </a:t>
            </a:r>
            <a:r>
              <a:rPr lang="sv-SE" sz="2200" dirty="0" err="1"/>
              <a:t>quality</a:t>
            </a:r>
            <a:r>
              <a:rPr lang="sv-SE" sz="2200" dirty="0"/>
              <a:t> and </a:t>
            </a:r>
            <a:r>
              <a:rPr lang="sv-SE" sz="2200" dirty="0" err="1"/>
              <a:t>thus</a:t>
            </a:r>
            <a:r>
              <a:rPr lang="sv-SE" sz="2200" dirty="0"/>
              <a:t> </a:t>
            </a:r>
            <a:r>
              <a:rPr lang="sv-SE" sz="2200" dirty="0" err="1"/>
              <a:t>might</a:t>
            </a:r>
            <a:r>
              <a:rPr lang="sv-SE" sz="2200" dirty="0"/>
              <a:t> </a:t>
            </a:r>
            <a:r>
              <a:rPr lang="sv-SE" sz="2200" dirty="0" err="1"/>
              <a:t>lead</a:t>
            </a:r>
            <a:r>
              <a:rPr lang="sv-SE" sz="2200" dirty="0"/>
              <a:t> to F </a:t>
            </a:r>
            <a:r>
              <a:rPr lang="sv-SE" sz="2200" dirty="0" err="1"/>
              <a:t>unless</a:t>
            </a:r>
            <a:r>
              <a:rPr lang="sv-SE" sz="2200" dirty="0"/>
              <a:t> </a:t>
            </a:r>
            <a:r>
              <a:rPr lang="sv-SE" sz="2200" dirty="0" err="1"/>
              <a:t>corrected</a:t>
            </a:r>
            <a:r>
              <a:rPr lang="sv-SE" sz="2200" dirty="0"/>
              <a:t>.</a:t>
            </a:r>
            <a:endParaRPr lang="sv-SE" sz="2200" dirty="0"/>
          </a:p>
          <a:p>
            <a:pPr lvl="1"/>
            <a:endParaRPr lang="sv-SE" sz="2200" dirty="0"/>
          </a:p>
          <a:p>
            <a:r>
              <a:rPr lang="sv-SE" sz="2400" dirty="0"/>
              <a:t>The </a:t>
            </a:r>
            <a:r>
              <a:rPr lang="sv-SE" sz="2400" dirty="0" err="1"/>
              <a:t>Examiner</a:t>
            </a:r>
            <a:r>
              <a:rPr lang="sv-SE" sz="2400" dirty="0"/>
              <a:t> is </a:t>
            </a:r>
            <a:r>
              <a:rPr lang="sv-SE" sz="2400" dirty="0" err="1"/>
              <a:t>asked</a:t>
            </a:r>
            <a:r>
              <a:rPr lang="sv-SE" sz="2400" dirty="0"/>
              <a:t> to </a:t>
            </a:r>
            <a:r>
              <a:rPr lang="sv-SE" sz="2400" dirty="0" err="1"/>
              <a:t>mention</a:t>
            </a:r>
            <a:r>
              <a:rPr lang="sv-SE" sz="2400" dirty="0"/>
              <a:t> the </a:t>
            </a:r>
            <a:r>
              <a:rPr lang="sv-SE" sz="2400" dirty="0" err="1"/>
              <a:t>critical</a:t>
            </a:r>
            <a:r>
              <a:rPr lang="sv-SE" sz="2400" dirty="0"/>
              <a:t> </a:t>
            </a:r>
            <a:r>
              <a:rPr lang="sv-SE" sz="2400" dirty="0" err="1"/>
              <a:t>aspects</a:t>
            </a:r>
            <a:r>
              <a:rPr lang="sv-SE" sz="2400" dirty="0"/>
              <a:t> </a:t>
            </a:r>
            <a:r>
              <a:rPr lang="sv-SE" sz="2400" dirty="0" err="1"/>
              <a:t>that</a:t>
            </a:r>
            <a:r>
              <a:rPr lang="sv-SE" sz="2400" dirty="0"/>
              <a:t> </a:t>
            </a:r>
            <a:r>
              <a:rPr lang="sv-SE" sz="2400" dirty="0" err="1"/>
              <a:t>might</a:t>
            </a:r>
            <a:r>
              <a:rPr lang="sv-SE" sz="2400" dirty="0"/>
              <a:t> </a:t>
            </a:r>
            <a:r>
              <a:rPr lang="sv-SE" sz="2400" dirty="0" err="1"/>
              <a:t>lead</a:t>
            </a:r>
            <a:r>
              <a:rPr lang="sv-SE" sz="2400" dirty="0"/>
              <a:t> to F </a:t>
            </a:r>
            <a:r>
              <a:rPr lang="sv-SE" sz="2400" dirty="0" err="1"/>
              <a:t>but</a:t>
            </a:r>
            <a:r>
              <a:rPr lang="sv-SE" sz="2400" dirty="0"/>
              <a:t> it </a:t>
            </a:r>
            <a:r>
              <a:rPr lang="sv-SE" sz="2400" dirty="0" err="1"/>
              <a:t>can</a:t>
            </a:r>
            <a:r>
              <a:rPr lang="sv-SE" sz="2400" dirty="0"/>
              <a:t> be hard to do so </a:t>
            </a:r>
            <a:r>
              <a:rPr lang="sv-SE" sz="2400" dirty="0" err="1"/>
              <a:t>if</a:t>
            </a:r>
            <a:r>
              <a:rPr lang="sv-SE" sz="2400" dirty="0"/>
              <a:t> </a:t>
            </a:r>
            <a:r>
              <a:rPr lang="sv-SE" sz="2400" dirty="0" err="1"/>
              <a:t>there</a:t>
            </a:r>
            <a:r>
              <a:rPr lang="sv-SE" sz="2400" dirty="0"/>
              <a:t> </a:t>
            </a:r>
            <a:r>
              <a:rPr lang="sv-SE" sz="2400" dirty="0" err="1"/>
              <a:t>are</a:t>
            </a:r>
            <a:r>
              <a:rPr lang="sv-SE" sz="2400" dirty="0"/>
              <a:t> </a:t>
            </a:r>
            <a:r>
              <a:rPr lang="sv-SE" sz="2400" dirty="0" err="1"/>
              <a:t>many</a:t>
            </a:r>
            <a:r>
              <a:rPr lang="sv-SE" sz="2400" dirty="0"/>
              <a:t> problems…</a:t>
            </a:r>
            <a:endParaRPr lang="sv-SE" sz="2400" dirty="0"/>
          </a:p>
          <a:p>
            <a:pPr lvl="1"/>
            <a:r>
              <a:rPr lang="sv-SE" sz="2200" dirty="0"/>
              <a:t>Not so </a:t>
            </a:r>
            <a:r>
              <a:rPr lang="sv-SE" sz="2200" dirty="0" err="1"/>
              <a:t>good</a:t>
            </a:r>
            <a:r>
              <a:rPr lang="sv-SE" sz="2200" dirty="0"/>
              <a:t> for the </a:t>
            </a:r>
            <a:r>
              <a:rPr lang="sv-SE" sz="2200" dirty="0" err="1"/>
              <a:t>grade</a:t>
            </a:r>
            <a:r>
              <a:rPr lang="sv-SE" sz="2200" dirty="0"/>
              <a:t> </a:t>
            </a:r>
            <a:r>
              <a:rPr lang="sv-SE" sz="2200" dirty="0" err="1"/>
              <a:t>if</a:t>
            </a:r>
            <a:r>
              <a:rPr lang="sv-SE" sz="2200" dirty="0"/>
              <a:t> the </a:t>
            </a:r>
            <a:r>
              <a:rPr lang="sv-SE" sz="2200" dirty="0" err="1"/>
              <a:t>examiner</a:t>
            </a:r>
            <a:r>
              <a:rPr lang="sv-SE" sz="2200" dirty="0"/>
              <a:t> </a:t>
            </a:r>
            <a:r>
              <a:rPr lang="sv-SE" sz="2200" dirty="0" err="1"/>
              <a:t>discovers</a:t>
            </a:r>
            <a:r>
              <a:rPr lang="sv-SE" sz="2200" dirty="0"/>
              <a:t> a </a:t>
            </a:r>
            <a:r>
              <a:rPr lang="sv-SE" sz="2200" dirty="0" err="1"/>
              <a:t>lot</a:t>
            </a:r>
            <a:r>
              <a:rPr lang="sv-SE" sz="2200" dirty="0"/>
              <a:t> </a:t>
            </a:r>
            <a:r>
              <a:rPr lang="sv-SE" sz="2200" dirty="0" err="1"/>
              <a:t>of</a:t>
            </a:r>
            <a:r>
              <a:rPr lang="sv-SE" sz="2200" dirty="0"/>
              <a:t> </a:t>
            </a:r>
            <a:r>
              <a:rPr lang="sv-SE" sz="2200" dirty="0" err="1"/>
              <a:t>critical</a:t>
            </a:r>
            <a:r>
              <a:rPr lang="sv-SE" sz="2200" dirty="0"/>
              <a:t> </a:t>
            </a:r>
            <a:r>
              <a:rPr lang="sv-SE" sz="2200" dirty="0" err="1"/>
              <a:t>issues</a:t>
            </a:r>
            <a:r>
              <a:rPr lang="sv-SE" sz="2200" dirty="0"/>
              <a:t>…</a:t>
            </a:r>
            <a:endParaRPr lang="sv-SE" sz="2200" dirty="0"/>
          </a:p>
          <a:p>
            <a:pPr lvl="1"/>
            <a:endParaRPr lang="sv-SE" sz="2200" dirty="0"/>
          </a:p>
          <a:p>
            <a:r>
              <a:rPr lang="sv-SE" sz="2400" dirty="0"/>
              <a:t>The </a:t>
            </a:r>
            <a:r>
              <a:rPr lang="sv-SE" sz="2400" dirty="0" err="1"/>
              <a:t>examiner</a:t>
            </a:r>
            <a:r>
              <a:rPr lang="sv-SE" sz="2400" dirty="0"/>
              <a:t> is not </a:t>
            </a:r>
            <a:r>
              <a:rPr lang="sv-SE" sz="2400" dirty="0" err="1"/>
              <a:t>supposed</a:t>
            </a:r>
            <a:r>
              <a:rPr lang="sv-SE" sz="2400" dirty="0"/>
              <a:t> to make a </a:t>
            </a:r>
            <a:r>
              <a:rPr lang="sv-SE" sz="2400" dirty="0" err="1"/>
              <a:t>detailed</a:t>
            </a:r>
            <a:r>
              <a:rPr lang="sv-SE" sz="2400" dirty="0"/>
              <a:t> </a:t>
            </a:r>
            <a:r>
              <a:rPr lang="sv-SE" sz="2400" dirty="0" err="1"/>
              <a:t>review</a:t>
            </a:r>
            <a:r>
              <a:rPr lang="sv-SE" sz="2400" dirty="0"/>
              <a:t> and the feedback on </a:t>
            </a:r>
            <a:r>
              <a:rPr lang="sv-SE" sz="2400" dirty="0" err="1"/>
              <a:t>your</a:t>
            </a:r>
            <a:r>
              <a:rPr lang="sv-SE" sz="2400" dirty="0"/>
              <a:t> </a:t>
            </a:r>
            <a:r>
              <a:rPr lang="sv-SE" sz="2400" dirty="0" err="1"/>
              <a:t>work</a:t>
            </a:r>
            <a:r>
              <a:rPr lang="sv-SE" sz="2400" dirty="0"/>
              <a:t> </a:t>
            </a:r>
            <a:r>
              <a:rPr lang="sv-SE" sz="2400" dirty="0" err="1"/>
              <a:t>but</a:t>
            </a:r>
            <a:r>
              <a:rPr lang="sv-SE" sz="2400" dirty="0"/>
              <a:t> </a:t>
            </a:r>
            <a:r>
              <a:rPr lang="sv-SE" sz="2400" dirty="0" err="1"/>
              <a:t>only</a:t>
            </a:r>
            <a:r>
              <a:rPr lang="sv-SE" sz="2400" dirty="0"/>
              <a:t> </a:t>
            </a:r>
            <a:r>
              <a:rPr lang="sv-SE" sz="2400" dirty="0" err="1"/>
              <a:t>evaluate</a:t>
            </a:r>
            <a:r>
              <a:rPr lang="sv-SE" sz="2400" dirty="0"/>
              <a:t> </a:t>
            </a:r>
            <a:r>
              <a:rPr lang="sv-SE" sz="2400" dirty="0" err="1"/>
              <a:t>your</a:t>
            </a:r>
            <a:r>
              <a:rPr lang="sv-SE" sz="2400" dirty="0"/>
              <a:t> </a:t>
            </a:r>
            <a:r>
              <a:rPr lang="sv-SE" sz="2400" dirty="0" err="1"/>
              <a:t>work</a:t>
            </a:r>
            <a:r>
              <a:rPr lang="sv-SE" sz="2400" dirty="0"/>
              <a:t> and </a:t>
            </a:r>
            <a:r>
              <a:rPr lang="sv-SE" sz="2400" dirty="0" err="1"/>
              <a:t>possibly</a:t>
            </a:r>
            <a:r>
              <a:rPr lang="sv-SE" sz="2400" dirty="0"/>
              <a:t> </a:t>
            </a:r>
            <a:r>
              <a:rPr lang="sv-SE" sz="2400" dirty="0" err="1"/>
              <a:t>give</a:t>
            </a:r>
            <a:r>
              <a:rPr lang="sv-SE" sz="2400" dirty="0"/>
              <a:t> </a:t>
            </a:r>
            <a:r>
              <a:rPr lang="sv-SE" sz="2400" dirty="0" err="1"/>
              <a:t>warnings</a:t>
            </a:r>
            <a:endParaRPr lang="sv-SE" sz="2400" dirty="0"/>
          </a:p>
          <a:p>
            <a:pPr lvl="1"/>
            <a:endParaRPr lang="sv-SE" dirty="0"/>
          </a:p>
          <a:p>
            <a:endParaRPr lang="sv-SE" dirty="0"/>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7" dur="500"/>
                                        <p:tgtEl>
                                          <p:spTgt spid="3">
                                            <p:txEl>
                                              <p:pRg st="4" end="4"/>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randombar(horizontal)">
                                      <p:cBhvr>
                                        <p:cTn id="1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a:t>Revision meeting</a:t>
            </a:r>
            <a:endParaRPr lang="sv-SE" dirty="0"/>
          </a:p>
        </p:txBody>
      </p:sp>
      <p:sp>
        <p:nvSpPr>
          <p:cNvPr id="3" name="Platshållare för innehåll 2"/>
          <p:cNvSpPr>
            <a:spLocks noGrp="1"/>
          </p:cNvSpPr>
          <p:nvPr>
            <p:ph idx="1"/>
          </p:nvPr>
        </p:nvSpPr>
        <p:spPr>
          <a:xfrm>
            <a:off x="457200" y="1600200"/>
            <a:ext cx="8229600" cy="4853136"/>
          </a:xfrm>
        </p:spPr>
        <p:txBody>
          <a:bodyPr>
            <a:noAutofit/>
          </a:bodyPr>
          <a:lstStyle/>
          <a:p>
            <a:r>
              <a:rPr lang="en-US" sz="1600" dirty="0"/>
              <a:t>Revision meeting takes 2 hours</a:t>
            </a:r>
            <a:endParaRPr lang="en-US" sz="1600" dirty="0"/>
          </a:p>
          <a:p>
            <a:endParaRPr lang="en-US" sz="1600" dirty="0"/>
          </a:p>
          <a:p>
            <a:r>
              <a:rPr lang="en-US" sz="1600" dirty="0"/>
              <a:t>Revision meeting is a closed seminar with the thesis author, opponent, supervisor and examiner.</a:t>
            </a:r>
            <a:endParaRPr lang="en-US" sz="1600" dirty="0"/>
          </a:p>
          <a:p>
            <a:endParaRPr lang="en-US" sz="1600" dirty="0"/>
          </a:p>
          <a:p>
            <a:r>
              <a:rPr lang="en-US" sz="1600" dirty="0"/>
              <a:t>Review the thesis for which you have been appointed as opponent </a:t>
            </a:r>
            <a:r>
              <a:rPr lang="en-US" sz="1600" b="1" dirty="0">
                <a:solidFill>
                  <a:srgbClr val="0000FF"/>
                </a:solidFill>
              </a:rPr>
              <a:t>in advance:</a:t>
            </a:r>
            <a:endParaRPr lang="en-US" sz="1600" b="1" dirty="0">
              <a:solidFill>
                <a:srgbClr val="0000FF"/>
              </a:solidFill>
            </a:endParaRPr>
          </a:p>
          <a:p>
            <a:pPr lvl="1"/>
            <a:r>
              <a:rPr lang="en-US" sz="1400" dirty="0"/>
              <a:t>Go through every piece of the thesis draft in detail and make minor and major comments</a:t>
            </a:r>
            <a:endParaRPr lang="en-US" sz="1400" dirty="0"/>
          </a:p>
          <a:p>
            <a:pPr lvl="1"/>
            <a:r>
              <a:rPr lang="en-US" sz="1400" dirty="0"/>
              <a:t>Everything is subject to criticism, incl. the thesis methodology, results, evaluation metrics.</a:t>
            </a:r>
            <a:endParaRPr lang="en-US" sz="1400" dirty="0"/>
          </a:p>
          <a:p>
            <a:pPr lvl="1"/>
            <a:r>
              <a:rPr lang="en-US" sz="1400" dirty="0"/>
              <a:t>Make written list of major issues</a:t>
            </a:r>
            <a:endParaRPr lang="en-US" sz="1400" dirty="0"/>
          </a:p>
          <a:p>
            <a:pPr lvl="1"/>
            <a:r>
              <a:rPr lang="en-US" sz="1400" dirty="0"/>
              <a:t>Mark minor issues (for ex. language errors in the thesis draft)</a:t>
            </a:r>
            <a:endParaRPr lang="en-US" sz="1400" dirty="0"/>
          </a:p>
          <a:p>
            <a:pPr lvl="1"/>
            <a:endParaRPr lang="en-US" sz="1400" dirty="0"/>
          </a:p>
          <a:p>
            <a:r>
              <a:rPr lang="en-US" sz="1600" dirty="0"/>
              <a:t>Prepare for the Revision meeting for your own thesis</a:t>
            </a:r>
            <a:endParaRPr lang="en-US" sz="1600" dirty="0"/>
          </a:p>
          <a:p>
            <a:pPr lvl="1"/>
            <a:r>
              <a:rPr lang="en-US" sz="1400" dirty="0"/>
              <a:t>Discuss possible opposition time slots with the opponent, examiner and the supervisor</a:t>
            </a:r>
            <a:endParaRPr lang="en-US" sz="1400" dirty="0"/>
          </a:p>
          <a:p>
            <a:pPr lvl="1"/>
            <a:r>
              <a:rPr lang="en-US" sz="1400" dirty="0"/>
              <a:t>Contact your supervisor and request to book a room for meeting at the selected date/time</a:t>
            </a:r>
            <a:endParaRPr lang="en-US" sz="1400" dirty="0"/>
          </a:p>
          <a:p>
            <a:endParaRPr lang="en-US" sz="1600" dirty="0"/>
          </a:p>
          <a:p>
            <a:r>
              <a:rPr lang="en-US" sz="1600" dirty="0"/>
              <a:t>Revision meeting is led by the opponent; the examiner contributes when needed</a:t>
            </a:r>
            <a:endParaRPr lang="en-US" dirty="0"/>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2" dur="500"/>
                                        <p:tgtEl>
                                          <p:spTgt spid="3">
                                            <p:txEl>
                                              <p:pRg st="4" end="4"/>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5" dur="500"/>
                                        <p:tgtEl>
                                          <p:spTgt spid="3">
                                            <p:txEl>
                                              <p:pRg st="5" end="5"/>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randombar(horizontal)">
                                      <p:cBhvr>
                                        <p:cTn id="18" dur="500"/>
                                        <p:tgtEl>
                                          <p:spTgt spid="3">
                                            <p:txEl>
                                              <p:pRg st="6" end="6"/>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randombar(horizontal)">
                                      <p:cBhvr>
                                        <p:cTn id="21" dur="500"/>
                                        <p:tgtEl>
                                          <p:spTgt spid="3">
                                            <p:txEl>
                                              <p:pRg st="7" end="7"/>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randombar(horizontal)">
                                      <p:cBhvr>
                                        <p:cTn id="24" dur="500"/>
                                        <p:tgtEl>
                                          <p:spTgt spid="3">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29" dur="500"/>
                                        <p:tgtEl>
                                          <p:spTgt spid="3">
                                            <p:txEl>
                                              <p:pRg st="10" end="10"/>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3">
                                            <p:txEl>
                                              <p:pRg st="11" end="11"/>
                                            </p:txEl>
                                          </p:spTgt>
                                        </p:tgtEl>
                                        <p:attrNameLst>
                                          <p:attrName>style.visibility</p:attrName>
                                        </p:attrNameLst>
                                      </p:cBhvr>
                                      <p:to>
                                        <p:strVal val="visible"/>
                                      </p:to>
                                    </p:set>
                                    <p:animEffect transition="in" filter="randombar(horizontal)">
                                      <p:cBhvr>
                                        <p:cTn id="32" dur="500"/>
                                        <p:tgtEl>
                                          <p:spTgt spid="3">
                                            <p:txEl>
                                              <p:pRg st="11" end="11"/>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Effect transition="in" filter="randombar(horizontal)">
                                      <p:cBhvr>
                                        <p:cTn id="35" dur="500"/>
                                        <p:tgtEl>
                                          <p:spTgt spid="3">
                                            <p:txEl>
                                              <p:pRg st="12" end="1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3">
                                            <p:txEl>
                                              <p:pRg st="14" end="14"/>
                                            </p:txEl>
                                          </p:spTgt>
                                        </p:tgtEl>
                                        <p:attrNameLst>
                                          <p:attrName>style.visibility</p:attrName>
                                        </p:attrNameLst>
                                      </p:cBhvr>
                                      <p:to>
                                        <p:strVal val="visible"/>
                                      </p:to>
                                    </p:set>
                                    <p:animEffect transition="in" filter="randombar(horizontal)">
                                      <p:cBhvr>
                                        <p:cTn id="40"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 the revision meeting		</a:t>
            </a:r>
            <a:endParaRPr lang="en-GB" dirty="0"/>
          </a:p>
        </p:txBody>
      </p:sp>
      <p:sp>
        <p:nvSpPr>
          <p:cNvPr id="3" name="Content Placeholder 2"/>
          <p:cNvSpPr>
            <a:spLocks noGrp="1"/>
          </p:cNvSpPr>
          <p:nvPr>
            <p:ph idx="1"/>
          </p:nvPr>
        </p:nvSpPr>
        <p:spPr/>
        <p:txBody>
          <a:bodyPr>
            <a:normAutofit/>
          </a:bodyPr>
          <a:lstStyle/>
          <a:p>
            <a:r>
              <a:rPr lang="en-GB" sz="2400" dirty="0"/>
              <a:t>Opponent: </a:t>
            </a:r>
            <a:endParaRPr lang="en-GB" sz="2400" dirty="0"/>
          </a:p>
          <a:p>
            <a:pPr lvl="1"/>
            <a:r>
              <a:rPr lang="en-GB" sz="2000" dirty="0"/>
              <a:t>Start with the overview of the thesis and major comments about the thesis as a whole</a:t>
            </a:r>
            <a:r>
              <a:rPr lang="en-GB" sz="1800" dirty="0"/>
              <a:t>. </a:t>
            </a:r>
            <a:r>
              <a:rPr lang="en-GB" sz="2000" dirty="0"/>
              <a:t>Think about choice of the methods, design of the results, correctness and completeness of conclusions and discussions  etc and ask questions</a:t>
            </a:r>
            <a:endParaRPr lang="en-GB" sz="2000" dirty="0"/>
          </a:p>
          <a:p>
            <a:pPr lvl="1"/>
            <a:r>
              <a:rPr lang="en-GB" sz="2000" dirty="0"/>
              <a:t>You can ask questions even about things you think are correct to verify understanding of the author.</a:t>
            </a:r>
            <a:endParaRPr lang="en-GB" sz="2000" dirty="0"/>
          </a:p>
          <a:p>
            <a:pPr lvl="1"/>
            <a:r>
              <a:rPr lang="en-GB" sz="2000" dirty="0"/>
              <a:t>Go through the thesis page by page and discuss important issues (minor things can be skipped)</a:t>
            </a:r>
            <a:endParaRPr lang="en-GB" sz="2000" dirty="0"/>
          </a:p>
          <a:p>
            <a:pPr lvl="1"/>
            <a:endParaRPr lang="en-GB" sz="2400" dirty="0"/>
          </a:p>
          <a:p>
            <a:r>
              <a:rPr lang="en-GB" sz="2400" dirty="0"/>
              <a:t>Quality of the opposition contributes to the grade or the opponent</a:t>
            </a:r>
            <a:endParaRPr lang="en-GB" sz="2400" dirty="0"/>
          </a:p>
        </p:txBody>
      </p:sp>
      <p:sp>
        <p:nvSpPr>
          <p:cNvPr id="4" name="Footer Placeholder 3"/>
          <p:cNvSpPr>
            <a:spLocks noGrp="1"/>
          </p:cNvSpPr>
          <p:nvPr>
            <p:ph type="ftr" sz="quarter" idx="11"/>
          </p:nvPr>
        </p:nvSpPr>
        <p:spPr/>
        <p:txBody>
          <a:bodyPr/>
          <a:lstStyle/>
          <a:p>
            <a:r>
              <a:rPr lang="sv-SE"/>
              <a:t>732A64</a:t>
            </a:r>
            <a:endParaRPr lang="sv-SE"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a:t>Part 4: </a:t>
            </a:r>
            <a:r>
              <a:rPr lang="sv-SE" dirty="0" err="1"/>
              <a:t>Finalizing</a:t>
            </a:r>
            <a:endParaRPr lang="sv-SE" dirty="0"/>
          </a:p>
        </p:txBody>
      </p:sp>
      <p:sp>
        <p:nvSpPr>
          <p:cNvPr id="3" name="Platshållare för innehåll 2"/>
          <p:cNvSpPr>
            <a:spLocks noGrp="1"/>
          </p:cNvSpPr>
          <p:nvPr>
            <p:ph idx="1"/>
          </p:nvPr>
        </p:nvSpPr>
        <p:spPr>
          <a:xfrm>
            <a:off x="440994" y="3096940"/>
            <a:ext cx="8229600" cy="3647430"/>
          </a:xfrm>
        </p:spPr>
        <p:txBody>
          <a:bodyPr>
            <a:normAutofit fontScale="92500" lnSpcReduction="10000"/>
          </a:bodyPr>
          <a:lstStyle/>
          <a:p>
            <a:pPr marL="0" indent="0">
              <a:buNone/>
            </a:pPr>
            <a:r>
              <a:rPr lang="sv-SE" sz="1600" b="1" dirty="0" err="1">
                <a:solidFill>
                  <a:srgbClr val="0000FF"/>
                </a:solidFill>
              </a:rPr>
              <a:t>Time</a:t>
            </a:r>
            <a:r>
              <a:rPr lang="sv-SE" sz="1600" b="1" dirty="0">
                <a:solidFill>
                  <a:srgbClr val="0000FF"/>
                </a:solidFill>
              </a:rPr>
              <a:t> </a:t>
            </a:r>
            <a:r>
              <a:rPr lang="sv-SE" sz="1600" b="1" dirty="0" err="1">
                <a:solidFill>
                  <a:srgbClr val="0000FF"/>
                </a:solidFill>
              </a:rPr>
              <a:t>frame</a:t>
            </a:r>
            <a:r>
              <a:rPr lang="sv-SE" sz="1600" b="1" dirty="0">
                <a:solidFill>
                  <a:srgbClr val="0000FF"/>
                </a:solidFill>
              </a:rPr>
              <a:t>: revision meeting – Final </a:t>
            </a:r>
            <a:r>
              <a:rPr lang="sv-SE" sz="1600" b="1" dirty="0" err="1">
                <a:solidFill>
                  <a:srgbClr val="0000FF"/>
                </a:solidFill>
              </a:rPr>
              <a:t>thesis</a:t>
            </a:r>
            <a:r>
              <a:rPr lang="sv-SE" sz="1600" b="1" dirty="0">
                <a:solidFill>
                  <a:srgbClr val="0000FF"/>
                </a:solidFill>
              </a:rPr>
              <a:t> submission</a:t>
            </a:r>
            <a:endParaRPr lang="sv-SE" sz="1600" b="1" dirty="0">
              <a:solidFill>
                <a:srgbClr val="0000FF"/>
              </a:solidFill>
            </a:endParaRPr>
          </a:p>
          <a:p>
            <a:endParaRPr lang="sv-SE" sz="1600" dirty="0"/>
          </a:p>
          <a:p>
            <a:r>
              <a:rPr lang="en-US" sz="2000" dirty="0"/>
              <a:t>Make revisions in your own thesis according to what has been taken up by your opponent, examiner and the supervisor </a:t>
            </a:r>
            <a:endParaRPr lang="en-US" sz="2000" dirty="0"/>
          </a:p>
          <a:p>
            <a:r>
              <a:rPr lang="en-US" sz="2000" dirty="0"/>
              <a:t>Prepare your next manuscript version for the </a:t>
            </a:r>
            <a:r>
              <a:rPr lang="en-US" sz="2000" dirty="0" err="1"/>
              <a:t>Defence</a:t>
            </a:r>
            <a:r>
              <a:rPr lang="en-US" sz="2000" dirty="0"/>
              <a:t> seminar.</a:t>
            </a:r>
            <a:endParaRPr lang="en-US" sz="2000" dirty="0"/>
          </a:p>
          <a:p>
            <a:r>
              <a:rPr lang="en-US" sz="2000" dirty="0"/>
              <a:t>Send your thesis to LISAM, opponent, examiner, supervisor</a:t>
            </a:r>
            <a:endParaRPr lang="en-US" sz="2000" dirty="0"/>
          </a:p>
          <a:p>
            <a:r>
              <a:rPr lang="en-US" sz="2000" dirty="0"/>
              <a:t>Prepare a good presentation for the </a:t>
            </a:r>
            <a:r>
              <a:rPr lang="en-US" sz="2000" dirty="0" err="1"/>
              <a:t>Defence</a:t>
            </a:r>
            <a:r>
              <a:rPr lang="en-US" sz="2000" dirty="0"/>
              <a:t> seminar.</a:t>
            </a:r>
            <a:endParaRPr lang="en-US" sz="2000" dirty="0"/>
          </a:p>
          <a:p>
            <a:endParaRPr lang="en-US" sz="2000" dirty="0"/>
          </a:p>
          <a:p>
            <a:r>
              <a:rPr lang="en-US" sz="2000" dirty="0"/>
              <a:t>Check the revisions made in the thesis on which you are the opponent.</a:t>
            </a:r>
            <a:endParaRPr lang="en-US" sz="2000" dirty="0"/>
          </a:p>
          <a:p>
            <a:r>
              <a:rPr lang="en-US" sz="2000" dirty="0"/>
              <a:t>Prepare discussion points for the </a:t>
            </a:r>
            <a:r>
              <a:rPr lang="en-US" sz="2000" dirty="0" err="1"/>
              <a:t>Defence</a:t>
            </a:r>
            <a:r>
              <a:rPr lang="en-US" sz="2000" dirty="0"/>
              <a:t> seminar (should take 7-8 minutes).</a:t>
            </a:r>
            <a:endParaRPr lang="en-US" sz="2000" dirty="0"/>
          </a:p>
          <a:p>
            <a:r>
              <a:rPr lang="en-US" sz="2000" dirty="0"/>
              <a:t>Perform on the </a:t>
            </a:r>
            <a:r>
              <a:rPr lang="en-US" sz="2000" dirty="0" err="1"/>
              <a:t>Defence</a:t>
            </a:r>
            <a:r>
              <a:rPr lang="en-US" sz="2000" dirty="0"/>
              <a:t> seminar both as speaker and as opponent!</a:t>
            </a:r>
            <a:endParaRPr lang="en-US" sz="2000" dirty="0"/>
          </a:p>
        </p:txBody>
      </p:sp>
      <p:sp>
        <p:nvSpPr>
          <p:cNvPr id="4" name="Platshållare för sidfot 3"/>
          <p:cNvSpPr>
            <a:spLocks noGrp="1"/>
          </p:cNvSpPr>
          <p:nvPr>
            <p:ph type="ftr" sz="quarter" idx="11"/>
          </p:nvPr>
        </p:nvSpPr>
        <p:spPr/>
        <p:txBody>
          <a:bodyPr/>
          <a:lstStyle/>
          <a:p>
            <a:r>
              <a:rPr lang="sv-SE"/>
              <a:t>732A64</a:t>
            </a:r>
            <a:endParaRPr lang="sv-SE" dirty="0"/>
          </a:p>
        </p:txBody>
      </p:sp>
      <p:graphicFrame>
        <p:nvGraphicFramePr>
          <p:cNvPr id="5" name="Table 4"/>
          <p:cNvGraphicFramePr>
            <a:graphicFrameLocks noGrp="1"/>
          </p:cNvGraphicFramePr>
          <p:nvPr/>
        </p:nvGraphicFramePr>
        <p:xfrm>
          <a:off x="326371" y="1767353"/>
          <a:ext cx="8344223" cy="979871"/>
        </p:xfrm>
        <a:graphic>
          <a:graphicData uri="http://schemas.openxmlformats.org/drawingml/2006/table">
            <a:tbl>
              <a:tblPr firstRow="1" firstCol="1" bandRow="1">
                <a:tableStyleId>{5C22544A-7EE6-4342-B048-85BDC9FD1C3A}</a:tableStyleId>
              </a:tblPr>
              <a:tblGrid>
                <a:gridCol w="1362322"/>
                <a:gridCol w="6981901"/>
              </a:tblGrid>
              <a:tr h="216024">
                <a:tc>
                  <a:txBody>
                    <a:bodyPr/>
                    <a:lstStyle/>
                    <a:p>
                      <a:pPr>
                        <a:lnSpc>
                          <a:spcPct val="107000"/>
                        </a:lnSpc>
                        <a:spcAft>
                          <a:spcPts val="800"/>
                        </a:spcAft>
                        <a:buNone/>
                      </a:pPr>
                      <a:endParaRPr lang="sv-SE" sz="1100" b="1"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b="1"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342889">
                <a:tc>
                  <a:txBody>
                    <a:bodyPr/>
                    <a:lstStyle/>
                    <a:p>
                      <a:pPr>
                        <a:lnSpc>
                          <a:spcPct val="107000"/>
                        </a:lnSpc>
                        <a:spcAft>
                          <a:spcPts val="800"/>
                        </a:spcAft>
                        <a:buNone/>
                      </a:pPr>
                      <a:r>
                        <a:rPr lang="sv-SE" sz="1100" kern="100">
                          <a:effectLst/>
                        </a:rPr>
                        <a:t>May 24</a:t>
                      </a: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en-GB" sz="1100" kern="100" dirty="0">
                          <a:effectLst/>
                        </a:rPr>
                        <a:t>Submission of the close-to-final thesis to LISAM. This version will be controlled for the plagiarism. Send it also to the supervisor, examiner and opponent by email</a:t>
                      </a: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67567">
                <a:tc>
                  <a:txBody>
                    <a:bodyPr/>
                    <a:lstStyle/>
                    <a:p>
                      <a:pPr>
                        <a:lnSpc>
                          <a:spcPct val="107000"/>
                        </a:lnSpc>
                        <a:spcAft>
                          <a:spcPts val="800"/>
                        </a:spcAft>
                        <a:buNone/>
                      </a:pPr>
                      <a:r>
                        <a:rPr lang="sv-SE" sz="1100" kern="100">
                          <a:effectLst/>
                        </a:rPr>
                        <a:t>June 2</a:t>
                      </a: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en-GB" sz="1100" kern="100" dirty="0">
                          <a:effectLst/>
                        </a:rPr>
                        <a:t>Submission of the presentation for the oral </a:t>
                      </a:r>
                      <a:r>
                        <a:rPr lang="en-GB" sz="1100" kern="100" dirty="0" err="1">
                          <a:effectLst/>
                        </a:rPr>
                        <a:t>defense</a:t>
                      </a:r>
                      <a:r>
                        <a:rPr lang="en-GB" sz="1100" kern="100" dirty="0">
                          <a:effectLst/>
                        </a:rPr>
                        <a:t> to LISAM</a:t>
                      </a: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241559">
                <a:tc>
                  <a:txBody>
                    <a:bodyPr/>
                    <a:lstStyle/>
                    <a:p>
                      <a:pPr>
                        <a:lnSpc>
                          <a:spcPct val="107000"/>
                        </a:lnSpc>
                        <a:spcAft>
                          <a:spcPts val="800"/>
                        </a:spcAft>
                        <a:buNone/>
                      </a:pPr>
                      <a:r>
                        <a:rPr lang="sv-SE" sz="1100" b="1" kern="100">
                          <a:effectLst/>
                        </a:rPr>
                        <a:t>June 3 - June 5</a:t>
                      </a:r>
                      <a:endParaRPr lang="sv-SE" sz="1100" b="1"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sv-SE" sz="1100" b="1" kern="100" dirty="0">
                          <a:effectLst/>
                        </a:rPr>
                        <a:t>Oral </a:t>
                      </a:r>
                      <a:r>
                        <a:rPr lang="sv-SE" sz="1100" b="1" kern="100" dirty="0" err="1">
                          <a:effectLst/>
                        </a:rPr>
                        <a:t>defense</a:t>
                      </a:r>
                      <a:r>
                        <a:rPr lang="sv-SE" sz="1100" b="1" kern="100" dirty="0">
                          <a:effectLst/>
                        </a:rPr>
                        <a:t> </a:t>
                      </a:r>
                      <a:r>
                        <a:rPr lang="sv-SE" sz="1100" b="1" kern="100" dirty="0" err="1">
                          <a:effectLst/>
                        </a:rPr>
                        <a:t>seminar</a:t>
                      </a:r>
                      <a:r>
                        <a:rPr lang="sv-SE" sz="1100" b="1" kern="100" dirty="0">
                          <a:effectLst/>
                        </a:rPr>
                        <a:t>:</a:t>
                      </a:r>
                      <a:endParaRPr lang="sv-SE" sz="1100" b="1" kern="100" dirty="0">
                        <a:effectLst/>
                      </a:endParaRPr>
                    </a:p>
                  </a:txBody>
                  <a:tcPr marL="0" marR="0" marT="0" marB="0" anchor="ct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randombar(horizontal)">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randombar(horizontal)">
                                      <p:cBhvr>
                                        <p:cTn id="32" dur="5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randombar(horizontal)">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err="1"/>
              <a:t>Defence</a:t>
            </a:r>
            <a:r>
              <a:rPr lang="sv-SE" dirty="0"/>
              <a:t> </a:t>
            </a:r>
            <a:r>
              <a:rPr lang="sv-SE" dirty="0" err="1"/>
              <a:t>seminar</a:t>
            </a:r>
            <a:endParaRPr lang="sv-SE" dirty="0"/>
          </a:p>
        </p:txBody>
      </p:sp>
      <p:sp>
        <p:nvSpPr>
          <p:cNvPr id="3" name="Platshållare för innehåll 2"/>
          <p:cNvSpPr>
            <a:spLocks noGrp="1"/>
          </p:cNvSpPr>
          <p:nvPr>
            <p:ph idx="1"/>
          </p:nvPr>
        </p:nvSpPr>
        <p:spPr/>
        <p:txBody>
          <a:bodyPr>
            <a:normAutofit/>
          </a:bodyPr>
          <a:lstStyle/>
          <a:p>
            <a:r>
              <a:rPr lang="en-US" sz="2000" dirty="0"/>
              <a:t>Each student presents their thesis for a maximum of 25 minutes</a:t>
            </a:r>
            <a:endParaRPr lang="en-US" sz="2000" dirty="0"/>
          </a:p>
          <a:p>
            <a:endParaRPr lang="en-US" sz="2000" dirty="0"/>
          </a:p>
          <a:p>
            <a:r>
              <a:rPr lang="en-US" sz="2000" dirty="0"/>
              <a:t>… followed by the opposition and a general discussion (max. 20 minutes).</a:t>
            </a:r>
            <a:endParaRPr lang="en-US" sz="2000" dirty="0"/>
          </a:p>
          <a:p>
            <a:pPr lvl="1"/>
            <a:r>
              <a:rPr lang="en-US" sz="1600" dirty="0"/>
              <a:t>Audience 5 mins</a:t>
            </a:r>
            <a:endParaRPr lang="en-US" sz="1600" dirty="0"/>
          </a:p>
          <a:p>
            <a:pPr lvl="1"/>
            <a:r>
              <a:rPr lang="en-US" sz="1600" dirty="0"/>
              <a:t>Opponent 7 mins</a:t>
            </a:r>
            <a:endParaRPr lang="en-US" sz="1600" dirty="0"/>
          </a:p>
          <a:p>
            <a:pPr lvl="1"/>
            <a:r>
              <a:rPr lang="en-US" sz="1600" dirty="0"/>
              <a:t>Examiner 7 mins</a:t>
            </a:r>
            <a:endParaRPr lang="en-US" sz="1600" dirty="0"/>
          </a:p>
          <a:p>
            <a:endParaRPr lang="en-US" sz="2000" dirty="0"/>
          </a:p>
          <a:p>
            <a:r>
              <a:rPr lang="en-US" sz="2000" dirty="0"/>
              <a:t>After the seminar (or in breaks) each supervisor is recommended to discuss with the student what needs to be adjusted in the manuscript.</a:t>
            </a:r>
            <a:endParaRPr lang="en-US" sz="2000" dirty="0"/>
          </a:p>
          <a:p>
            <a:endParaRPr lang="en-US" sz="2000" dirty="0"/>
          </a:p>
          <a:p>
            <a:r>
              <a:rPr lang="en-US" sz="2000" b="1" dirty="0">
                <a:solidFill>
                  <a:srgbClr val="0000FF"/>
                </a:solidFill>
              </a:rPr>
              <a:t>Mandatory to attend all sessions of your group! </a:t>
            </a:r>
            <a:endParaRPr lang="sv-SE" sz="2000" b="1" dirty="0">
              <a:solidFill>
                <a:srgbClr val="0000FF"/>
              </a:solidFill>
            </a:endParaRPr>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randombar(horizontal)">
                                      <p:cBhvr>
                                        <p:cTn id="7" dur="500"/>
                                        <p:tgtEl>
                                          <p:spTgt spid="3">
                                            <p:txEl>
                                              <p:pRg st="7" end="7"/>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9" end="9"/>
                                            </p:txEl>
                                          </p:spTgt>
                                        </p:tgtEl>
                                        <p:attrNameLst>
                                          <p:attrName>style.visibility</p:attrName>
                                        </p:attrNameLst>
                                      </p:cBhvr>
                                      <p:to>
                                        <p:strVal val="visible"/>
                                      </p:to>
                                    </p:set>
                                    <p:animEffect transition="in" filter="randombar(horizontal)">
                                      <p:cBhvr>
                                        <p:cTn id="1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a:t>Part 4: </a:t>
            </a:r>
            <a:r>
              <a:rPr lang="sv-SE" dirty="0" err="1"/>
              <a:t>Finalizing</a:t>
            </a:r>
            <a:endParaRPr lang="sv-SE" dirty="0"/>
          </a:p>
        </p:txBody>
      </p:sp>
      <p:sp>
        <p:nvSpPr>
          <p:cNvPr id="3" name="Platshållare för innehåll 2"/>
          <p:cNvSpPr>
            <a:spLocks noGrp="1"/>
          </p:cNvSpPr>
          <p:nvPr>
            <p:ph idx="1"/>
          </p:nvPr>
        </p:nvSpPr>
        <p:spPr>
          <a:xfrm>
            <a:off x="472634" y="3405837"/>
            <a:ext cx="8291264" cy="3432026"/>
          </a:xfrm>
        </p:spPr>
        <p:txBody>
          <a:bodyPr>
            <a:normAutofit/>
          </a:bodyPr>
          <a:lstStyle/>
          <a:p>
            <a:r>
              <a:rPr lang="sv-SE" sz="1800" b="1" dirty="0" err="1">
                <a:solidFill>
                  <a:srgbClr val="C00000"/>
                </a:solidFill>
              </a:rPr>
              <a:t>Very</a:t>
            </a:r>
            <a:r>
              <a:rPr lang="sv-SE" sz="1800" b="1" dirty="0">
                <a:solidFill>
                  <a:srgbClr val="C00000"/>
                </a:solidFill>
              </a:rPr>
              <a:t> short </a:t>
            </a:r>
            <a:r>
              <a:rPr lang="sv-SE" sz="1800" b="1" dirty="0" err="1">
                <a:solidFill>
                  <a:srgbClr val="C00000"/>
                </a:solidFill>
              </a:rPr>
              <a:t>time</a:t>
            </a:r>
            <a:r>
              <a:rPr lang="sv-SE" sz="1800" b="1" dirty="0">
                <a:solidFill>
                  <a:srgbClr val="C00000"/>
                </a:solidFill>
              </a:rPr>
              <a:t> </a:t>
            </a:r>
            <a:r>
              <a:rPr lang="sv-SE" sz="1800" dirty="0"/>
              <a:t>to the </a:t>
            </a:r>
            <a:r>
              <a:rPr lang="sv-SE" sz="1800" dirty="0" err="1"/>
              <a:t>next</a:t>
            </a:r>
            <a:r>
              <a:rPr lang="sv-SE" sz="1800" dirty="0"/>
              <a:t> submission</a:t>
            </a:r>
            <a:endParaRPr lang="sv-SE" sz="1800" dirty="0"/>
          </a:p>
          <a:p>
            <a:pPr lvl="1"/>
            <a:r>
              <a:rPr lang="sv-SE" sz="1600" dirty="0"/>
              <a:t>Minor problems </a:t>
            </a:r>
            <a:r>
              <a:rPr lang="sv-SE" sz="1600" dirty="0" err="1"/>
              <a:t>left</a:t>
            </a:r>
            <a:r>
              <a:rPr lang="sv-SE" sz="1600" dirty="0"/>
              <a:t>: </a:t>
            </a:r>
            <a:r>
              <a:rPr lang="sv-SE" sz="1600" dirty="0" err="1"/>
              <a:t>revise</a:t>
            </a:r>
            <a:r>
              <a:rPr lang="sv-SE" sz="1600" dirty="0"/>
              <a:t>, </a:t>
            </a:r>
            <a:r>
              <a:rPr lang="sv-SE" sz="1600" dirty="0" err="1"/>
              <a:t>submit</a:t>
            </a:r>
            <a:r>
              <a:rPr lang="sv-SE" sz="1600" dirty="0"/>
              <a:t> the final version</a:t>
            </a:r>
            <a:endParaRPr lang="sv-SE" sz="1600" dirty="0"/>
          </a:p>
          <a:p>
            <a:pPr lvl="1"/>
            <a:r>
              <a:rPr lang="sv-SE" sz="1600" dirty="0"/>
              <a:t>Major/</a:t>
            </a:r>
            <a:r>
              <a:rPr lang="sv-SE" sz="1600" dirty="0" err="1"/>
              <a:t>Many</a:t>
            </a:r>
            <a:r>
              <a:rPr lang="sv-SE" sz="1600" dirty="0"/>
              <a:t> problems </a:t>
            </a:r>
            <a:r>
              <a:rPr lang="sv-SE" sz="1600" dirty="0" err="1"/>
              <a:t>left</a:t>
            </a:r>
            <a:r>
              <a:rPr lang="sv-SE" sz="1600" dirty="0"/>
              <a:t>: </a:t>
            </a:r>
            <a:r>
              <a:rPr lang="sv-SE" sz="1600" dirty="0" err="1"/>
              <a:t>submit</a:t>
            </a:r>
            <a:r>
              <a:rPr lang="sv-SE" sz="1600" dirty="0"/>
              <a:t> in August</a:t>
            </a:r>
            <a:endParaRPr lang="sv-SE" sz="1600" dirty="0"/>
          </a:p>
          <a:p>
            <a:pPr lvl="1"/>
            <a:r>
              <a:rPr lang="sv-SE" sz="1600" dirty="0"/>
              <a:t>Note: ”</a:t>
            </a:r>
            <a:r>
              <a:rPr lang="sv-SE" sz="1600" b="1" dirty="0"/>
              <a:t>last </a:t>
            </a:r>
            <a:r>
              <a:rPr lang="sv-SE" sz="1600" b="1" dirty="0" err="1"/>
              <a:t>attempt</a:t>
            </a:r>
            <a:r>
              <a:rPr lang="sv-SE" sz="1600" b="1" dirty="0"/>
              <a:t>” is </a:t>
            </a:r>
            <a:r>
              <a:rPr lang="sv-SE" sz="1600" b="1" dirty="0" err="1"/>
              <a:t>only</a:t>
            </a:r>
            <a:r>
              <a:rPr lang="sv-SE" sz="1600" b="1" dirty="0"/>
              <a:t> </a:t>
            </a:r>
            <a:r>
              <a:rPr lang="sv-SE" sz="1600" dirty="0"/>
              <a:t> for students </a:t>
            </a:r>
            <a:r>
              <a:rPr lang="sv-SE" sz="1600" dirty="0" err="1"/>
              <a:t>who</a:t>
            </a:r>
            <a:r>
              <a:rPr lang="sv-SE" sz="1600" dirty="0"/>
              <a:t> </a:t>
            </a:r>
            <a:r>
              <a:rPr lang="sv-SE" sz="1600" dirty="0" err="1"/>
              <a:t>have</a:t>
            </a:r>
            <a:r>
              <a:rPr lang="sv-SE" sz="1600" dirty="0"/>
              <a:t> </a:t>
            </a:r>
            <a:r>
              <a:rPr lang="sv-SE" sz="1600" dirty="0" err="1"/>
              <a:t>gone</a:t>
            </a:r>
            <a:r>
              <a:rPr lang="sv-SE" sz="1600" dirty="0"/>
              <a:t> </a:t>
            </a:r>
            <a:r>
              <a:rPr lang="sv-SE" sz="1600" dirty="0" err="1"/>
              <a:t>through</a:t>
            </a:r>
            <a:r>
              <a:rPr lang="sv-SE" sz="1600" dirty="0"/>
              <a:t> all </a:t>
            </a:r>
            <a:r>
              <a:rPr lang="sv-SE" sz="1600" dirty="0" err="1"/>
              <a:t>mandatory</a:t>
            </a:r>
            <a:r>
              <a:rPr lang="sv-SE" sz="1600" dirty="0"/>
              <a:t> sessions (</a:t>
            </a:r>
            <a:r>
              <a:rPr lang="sv-SE" sz="1600" dirty="0" err="1"/>
              <a:t>incl</a:t>
            </a:r>
            <a:r>
              <a:rPr lang="sv-SE" sz="1600" dirty="0"/>
              <a:t> </a:t>
            </a:r>
            <a:r>
              <a:rPr lang="sv-SE" sz="1600" dirty="0" err="1"/>
              <a:t>defence</a:t>
            </a:r>
            <a:r>
              <a:rPr lang="sv-SE" sz="1600" dirty="0"/>
              <a:t>) </a:t>
            </a:r>
            <a:r>
              <a:rPr lang="sv-SE" sz="1600" dirty="0" err="1"/>
              <a:t>but</a:t>
            </a:r>
            <a:r>
              <a:rPr lang="sv-SE" sz="1600" dirty="0"/>
              <a:t> still </a:t>
            </a:r>
            <a:r>
              <a:rPr lang="sv-SE" sz="1600" dirty="0" err="1"/>
              <a:t>have</a:t>
            </a:r>
            <a:r>
              <a:rPr lang="sv-SE" sz="1600" dirty="0"/>
              <a:t> </a:t>
            </a:r>
            <a:r>
              <a:rPr lang="sv-SE" sz="1600" dirty="0" err="1"/>
              <a:t>some</a:t>
            </a:r>
            <a:r>
              <a:rPr lang="sv-SE" sz="1600" dirty="0"/>
              <a:t> problems </a:t>
            </a:r>
            <a:r>
              <a:rPr lang="sv-SE" sz="1600" dirty="0" err="1"/>
              <a:t>left</a:t>
            </a:r>
            <a:r>
              <a:rPr lang="sv-SE" sz="1600" dirty="0"/>
              <a:t> in the </a:t>
            </a:r>
            <a:r>
              <a:rPr lang="sv-SE" sz="1600" dirty="0" err="1"/>
              <a:t>report</a:t>
            </a:r>
            <a:endParaRPr lang="sv-SE" sz="1600" dirty="0"/>
          </a:p>
          <a:p>
            <a:endParaRPr lang="sv-SE" sz="1600" dirty="0"/>
          </a:p>
          <a:p>
            <a:r>
              <a:rPr lang="sv-SE" sz="1600" dirty="0"/>
              <a:t>If </a:t>
            </a:r>
            <a:r>
              <a:rPr lang="sv-SE" sz="1600" dirty="0" err="1"/>
              <a:t>you</a:t>
            </a:r>
            <a:r>
              <a:rPr lang="sv-SE" sz="1600" dirty="0"/>
              <a:t> </a:t>
            </a:r>
            <a:r>
              <a:rPr lang="sv-SE" sz="1600" dirty="0" err="1"/>
              <a:t>submit</a:t>
            </a:r>
            <a:r>
              <a:rPr lang="sv-SE" sz="1600" dirty="0"/>
              <a:t> the final </a:t>
            </a:r>
            <a:r>
              <a:rPr lang="sv-SE" sz="1600" dirty="0" err="1"/>
              <a:t>manuscript</a:t>
            </a:r>
            <a:r>
              <a:rPr lang="sv-SE" sz="1600" dirty="0"/>
              <a:t> in June, the </a:t>
            </a:r>
            <a:r>
              <a:rPr lang="sv-SE" sz="1600" dirty="0" err="1"/>
              <a:t>grade</a:t>
            </a:r>
            <a:r>
              <a:rPr lang="sv-SE" sz="1600" dirty="0"/>
              <a:t> is </a:t>
            </a:r>
            <a:r>
              <a:rPr lang="sv-SE" sz="1600" dirty="0" err="1"/>
              <a:t>decided</a:t>
            </a:r>
            <a:r>
              <a:rPr lang="sv-SE" sz="1600" dirty="0"/>
              <a:t> at the </a:t>
            </a:r>
            <a:r>
              <a:rPr lang="sv-SE" sz="1600" dirty="0" err="1"/>
              <a:t>examiner</a:t>
            </a:r>
            <a:r>
              <a:rPr lang="sv-SE" sz="1600" dirty="0"/>
              <a:t> meeting</a:t>
            </a:r>
            <a:endParaRPr lang="sv-SE" sz="1600" dirty="0"/>
          </a:p>
          <a:p>
            <a:r>
              <a:rPr lang="sv-SE" sz="1600" dirty="0" err="1"/>
              <a:t>Your</a:t>
            </a:r>
            <a:r>
              <a:rPr lang="sv-SE" sz="1600" dirty="0"/>
              <a:t> </a:t>
            </a:r>
            <a:r>
              <a:rPr lang="sv-SE" sz="1600" dirty="0" err="1"/>
              <a:t>grade</a:t>
            </a:r>
            <a:r>
              <a:rPr lang="sv-SE" sz="1600" dirty="0"/>
              <a:t> is </a:t>
            </a:r>
            <a:r>
              <a:rPr lang="sv-SE" sz="1600" dirty="0" err="1"/>
              <a:t>informed</a:t>
            </a:r>
            <a:r>
              <a:rPr lang="sv-SE" sz="1600" dirty="0"/>
              <a:t> to </a:t>
            </a:r>
            <a:r>
              <a:rPr lang="sv-SE" sz="1600" dirty="0" err="1"/>
              <a:t>you</a:t>
            </a:r>
            <a:r>
              <a:rPr lang="sv-SE" sz="1600" dirty="0"/>
              <a:t> by the </a:t>
            </a:r>
            <a:r>
              <a:rPr lang="sv-SE" sz="1600" dirty="0" err="1"/>
              <a:t>course</a:t>
            </a:r>
            <a:r>
              <a:rPr lang="sv-SE" sz="1600" dirty="0"/>
              <a:t> </a:t>
            </a:r>
            <a:r>
              <a:rPr lang="sv-SE" sz="1600" dirty="0" err="1"/>
              <a:t>leader</a:t>
            </a:r>
            <a:r>
              <a:rPr lang="sv-SE" sz="1600" dirty="0"/>
              <a:t> (Oleg)</a:t>
            </a:r>
            <a:endParaRPr lang="sv-SE" sz="1600" dirty="0"/>
          </a:p>
          <a:p>
            <a:r>
              <a:rPr lang="sv-SE" sz="1600" dirty="0"/>
              <a:t>If </a:t>
            </a:r>
            <a:r>
              <a:rPr lang="sv-SE" sz="1600" dirty="0" err="1"/>
              <a:t>you</a:t>
            </a:r>
            <a:r>
              <a:rPr lang="sv-SE" sz="1600" dirty="0"/>
              <a:t> </a:t>
            </a:r>
            <a:r>
              <a:rPr lang="sv-SE" sz="1600" dirty="0" err="1"/>
              <a:t>have</a:t>
            </a:r>
            <a:r>
              <a:rPr lang="sv-SE" sz="1600" dirty="0"/>
              <a:t> 120 ECTS, </a:t>
            </a:r>
            <a:r>
              <a:rPr lang="sv-SE" sz="1600" dirty="0" err="1"/>
              <a:t>apply</a:t>
            </a:r>
            <a:r>
              <a:rPr lang="sv-SE" sz="1600" dirty="0"/>
              <a:t> for </a:t>
            </a:r>
            <a:r>
              <a:rPr lang="sv-SE" sz="1600" dirty="0" err="1"/>
              <a:t>your</a:t>
            </a:r>
            <a:r>
              <a:rPr lang="sv-SE" sz="1600" dirty="0"/>
              <a:t> </a:t>
            </a:r>
            <a:r>
              <a:rPr lang="sv-SE" sz="1600" dirty="0" err="1"/>
              <a:t>degree</a:t>
            </a:r>
            <a:r>
              <a:rPr lang="sv-SE" sz="1600" dirty="0"/>
              <a:t>! </a:t>
            </a:r>
            <a:endParaRPr lang="sv-SE" sz="1600" dirty="0"/>
          </a:p>
          <a:p>
            <a:pPr lvl="1"/>
            <a:r>
              <a:rPr lang="sv-SE" sz="1400" b="1" dirty="0"/>
              <a:t>It </a:t>
            </a:r>
            <a:r>
              <a:rPr lang="sv-SE" sz="1400" b="1" dirty="0" err="1"/>
              <a:t>does</a:t>
            </a:r>
            <a:r>
              <a:rPr lang="sv-SE" sz="1400" b="1" dirty="0"/>
              <a:t> not </a:t>
            </a:r>
            <a:r>
              <a:rPr lang="sv-SE" sz="1400" b="1" dirty="0" err="1"/>
              <a:t>happen</a:t>
            </a:r>
            <a:r>
              <a:rPr lang="sv-SE" sz="1400" b="1" dirty="0"/>
              <a:t> </a:t>
            </a:r>
            <a:r>
              <a:rPr lang="sv-SE" sz="1400" b="1" dirty="0" err="1"/>
              <a:t>automatically</a:t>
            </a:r>
            <a:endParaRPr lang="sv-SE" sz="1400" b="1" dirty="0"/>
          </a:p>
          <a:p>
            <a:endParaRPr lang="sv-SE" sz="2000" dirty="0"/>
          </a:p>
          <a:p>
            <a:pPr marL="914400" lvl="2" indent="0">
              <a:buNone/>
            </a:pPr>
            <a:endParaRPr lang="sv-SE" sz="1600" dirty="0"/>
          </a:p>
        </p:txBody>
      </p:sp>
      <p:sp>
        <p:nvSpPr>
          <p:cNvPr id="4" name="Platshållare för sidfot 3"/>
          <p:cNvSpPr>
            <a:spLocks noGrp="1"/>
          </p:cNvSpPr>
          <p:nvPr>
            <p:ph type="ftr" sz="quarter" idx="11"/>
          </p:nvPr>
        </p:nvSpPr>
        <p:spPr/>
        <p:txBody>
          <a:bodyPr/>
          <a:lstStyle/>
          <a:p>
            <a:r>
              <a:rPr lang="sv-SE"/>
              <a:t>732A64</a:t>
            </a:r>
            <a:endParaRPr lang="sv-SE" dirty="0"/>
          </a:p>
        </p:txBody>
      </p:sp>
      <p:graphicFrame>
        <p:nvGraphicFramePr>
          <p:cNvPr id="5" name="Table 4"/>
          <p:cNvGraphicFramePr>
            <a:graphicFrameLocks noGrp="1"/>
          </p:cNvGraphicFramePr>
          <p:nvPr/>
        </p:nvGraphicFramePr>
        <p:xfrm>
          <a:off x="570384" y="1750964"/>
          <a:ext cx="8003232" cy="1321546"/>
        </p:xfrm>
        <a:graphic>
          <a:graphicData uri="http://schemas.openxmlformats.org/drawingml/2006/table">
            <a:tbl>
              <a:tblPr firstRow="1" firstCol="1" bandRow="1">
                <a:tableStyleId>{5C22544A-7EE6-4342-B048-85BDC9FD1C3A}</a:tableStyleId>
              </a:tblPr>
              <a:tblGrid>
                <a:gridCol w="1306650"/>
                <a:gridCol w="6696582"/>
              </a:tblGrid>
              <a:tr h="167567">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241559">
                <a:tc>
                  <a:txBody>
                    <a:bodyPr/>
                    <a:lstStyle/>
                    <a:p>
                      <a:pPr>
                        <a:lnSpc>
                          <a:spcPct val="107000"/>
                        </a:lnSpc>
                        <a:spcAft>
                          <a:spcPts val="800"/>
                        </a:spcAft>
                        <a:buNone/>
                      </a:pPr>
                      <a:r>
                        <a:rPr lang="sv-SE" sz="1100" b="1" kern="100" dirty="0">
                          <a:effectLst/>
                        </a:rPr>
                        <a:t>June 3 - June 5</a:t>
                      </a:r>
                      <a:endParaRPr lang="sv-SE" sz="1100" b="1"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sv-SE" sz="1100" b="1" kern="100" dirty="0">
                          <a:effectLst/>
                        </a:rPr>
                        <a:t>Oral </a:t>
                      </a:r>
                      <a:r>
                        <a:rPr lang="sv-SE" sz="1100" b="1" kern="100" dirty="0" err="1">
                          <a:effectLst/>
                        </a:rPr>
                        <a:t>defense</a:t>
                      </a:r>
                      <a:r>
                        <a:rPr lang="sv-SE" sz="1100" b="1" kern="100" dirty="0">
                          <a:effectLst/>
                        </a:rPr>
                        <a:t> </a:t>
                      </a:r>
                      <a:r>
                        <a:rPr lang="sv-SE" sz="1100" b="1" kern="100" dirty="0" err="1">
                          <a:effectLst/>
                        </a:rPr>
                        <a:t>seminar</a:t>
                      </a:r>
                      <a:r>
                        <a:rPr lang="sv-SE" sz="1100" b="1" kern="100" dirty="0">
                          <a:effectLst/>
                        </a:rPr>
                        <a:t>:</a:t>
                      </a:r>
                      <a:endParaRPr lang="sv-SE" sz="1100" b="1" kern="100" dirty="0">
                        <a:effectLst/>
                      </a:endParaRPr>
                    </a:p>
                  </a:txBody>
                  <a:tcPr marL="0" marR="0" marT="0" marB="0" anchor="ctr"/>
                </a:tc>
              </a:tr>
              <a:tr h="185531">
                <a:tc>
                  <a:txBody>
                    <a:bodyPr/>
                    <a:lstStyle/>
                    <a:p>
                      <a:pPr>
                        <a:lnSpc>
                          <a:spcPct val="107000"/>
                        </a:lnSpc>
                        <a:spcAft>
                          <a:spcPts val="800"/>
                        </a:spcAft>
                        <a:buNone/>
                      </a:pPr>
                      <a:r>
                        <a:rPr lang="sv-SE" sz="1100" kern="100">
                          <a:effectLst/>
                        </a:rPr>
                        <a:t>June 9</a:t>
                      </a: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en-GB" sz="1100" kern="100" dirty="0">
                          <a:effectLst/>
                        </a:rPr>
                        <a:t>Last day to submit final version of the thesis for it to be reported within this semester</a:t>
                      </a: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167567">
                <a:tc>
                  <a:txBody>
                    <a:bodyPr/>
                    <a:lstStyle/>
                    <a:p>
                      <a:pPr>
                        <a:lnSpc>
                          <a:spcPct val="107000"/>
                        </a:lnSpc>
                        <a:spcAft>
                          <a:spcPts val="800"/>
                        </a:spcAft>
                        <a:buNone/>
                      </a:pPr>
                      <a:r>
                        <a:rPr lang="sv-SE" sz="1100" kern="100">
                          <a:effectLst/>
                        </a:rPr>
                        <a:t>June 18</a:t>
                      </a: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en-GB" sz="1100" kern="100" dirty="0">
                          <a:effectLst/>
                        </a:rPr>
                        <a:t>Examiner's meeting where the grades are decided and then reported</a:t>
                      </a: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342889">
                <a:tc>
                  <a:txBody>
                    <a:bodyPr/>
                    <a:lstStyle/>
                    <a:p>
                      <a:pPr>
                        <a:lnSpc>
                          <a:spcPct val="107000"/>
                        </a:lnSpc>
                        <a:spcAft>
                          <a:spcPts val="800"/>
                        </a:spcAft>
                        <a:buNone/>
                      </a:pPr>
                      <a:r>
                        <a:rPr lang="sv-SE" sz="1100" kern="100">
                          <a:effectLst/>
                        </a:rPr>
                        <a:t>August, 2</a:t>
                      </a: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en-GB" sz="1100" kern="100" dirty="0">
                          <a:effectLst/>
                        </a:rPr>
                        <a:t>Last attempt for submitting the final version of the thesis </a:t>
                      </a:r>
                      <a:br>
                        <a:rPr lang="en-GB" sz="1100" kern="100" dirty="0">
                          <a:effectLst/>
                        </a:rPr>
                      </a:br>
                      <a:r>
                        <a:rPr lang="en-GB" sz="1100" kern="100" dirty="0">
                          <a:effectLst/>
                        </a:rPr>
                        <a:t>(for students who passed all obligatory moments except of June 9 submission; the maximum possible grade is C)</a:t>
                      </a: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r h="200718">
                <a:tc>
                  <a:txBody>
                    <a:bodyPr/>
                    <a:lstStyle/>
                    <a:p>
                      <a:pPr>
                        <a:lnSpc>
                          <a:spcPct val="107000"/>
                        </a:lnSpc>
                        <a:spcAft>
                          <a:spcPts val="800"/>
                        </a:spcAft>
                        <a:buNone/>
                      </a:pPr>
                      <a:r>
                        <a:rPr lang="sv-SE" sz="1100" kern="100">
                          <a:effectLst/>
                        </a:rPr>
                        <a:t>January, 2027</a:t>
                      </a:r>
                      <a:endParaRPr lang="sv-SE" sz="1100" kern="10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c>
                  <a:txBody>
                    <a:bodyPr/>
                    <a:lstStyle/>
                    <a:p>
                      <a:pPr>
                        <a:lnSpc>
                          <a:spcPct val="107000"/>
                        </a:lnSpc>
                        <a:spcAft>
                          <a:spcPts val="800"/>
                        </a:spcAft>
                        <a:buNone/>
                      </a:pPr>
                      <a:r>
                        <a:rPr lang="en-GB" sz="1100" kern="100" dirty="0">
                          <a:effectLst/>
                        </a:rPr>
                        <a:t>Second opportunity for the oral </a:t>
                      </a:r>
                      <a:r>
                        <a:rPr lang="en-GB" sz="1100" kern="100" dirty="0" err="1">
                          <a:effectLst/>
                        </a:rPr>
                        <a:t>defense</a:t>
                      </a:r>
                      <a:r>
                        <a:rPr lang="en-GB" sz="1100" kern="100" dirty="0">
                          <a:effectLst/>
                        </a:rPr>
                        <a:t> seminar (for students who passed all obligatory moments except of  </a:t>
                      </a:r>
                      <a:r>
                        <a:rPr lang="en-GB" sz="1100" kern="100" dirty="0" err="1">
                          <a:effectLst/>
                        </a:rPr>
                        <a:t>defense</a:t>
                      </a:r>
                      <a:r>
                        <a:rPr lang="en-GB" sz="1100" kern="100" dirty="0">
                          <a:effectLst/>
                        </a:rPr>
                        <a:t>)</a:t>
                      </a:r>
                      <a:endParaRPr lang="sv-SE" sz="1100" kern="100" dirty="0">
                        <a:effectLst/>
                        <a:latin typeface="Calibri" panose="020F0502020204030204" pitchFamily="34" charset="0"/>
                        <a:ea typeface="Calibri" panose="020F0502020204030204" pitchFamily="34" charset="0"/>
                        <a:cs typeface="Times New Roman" panose="02020503050405090304" pitchFamily="18" charset="0"/>
                      </a:endParaRPr>
                    </a:p>
                  </a:txBody>
                  <a:tcPr marL="0" marR="0" marT="0" marB="0" anchor="ct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a:t>Part 4: </a:t>
            </a:r>
            <a:r>
              <a:rPr lang="sv-SE" dirty="0" err="1"/>
              <a:t>Finalizing</a:t>
            </a:r>
            <a:endParaRPr lang="sv-SE" dirty="0"/>
          </a:p>
        </p:txBody>
      </p:sp>
      <p:sp>
        <p:nvSpPr>
          <p:cNvPr id="3" name="Platshållare för innehåll 2"/>
          <p:cNvSpPr>
            <a:spLocks noGrp="1"/>
          </p:cNvSpPr>
          <p:nvPr>
            <p:ph idx="1"/>
          </p:nvPr>
        </p:nvSpPr>
        <p:spPr>
          <a:xfrm>
            <a:off x="457200" y="1600200"/>
            <a:ext cx="8291264" cy="4756150"/>
          </a:xfrm>
        </p:spPr>
        <p:txBody>
          <a:bodyPr>
            <a:normAutofit fontScale="92500" lnSpcReduction="10000"/>
          </a:bodyPr>
          <a:lstStyle/>
          <a:p>
            <a:pPr marL="0" indent="0">
              <a:buNone/>
            </a:pPr>
            <a:r>
              <a:rPr lang="en-US" sz="2400" b="1" dirty="0"/>
              <a:t>How to finalize the work? (if the thesis has grade E or higher):</a:t>
            </a:r>
            <a:endParaRPr lang="en-US" sz="2400" dirty="0"/>
          </a:p>
          <a:p>
            <a:pPr marL="457200" indent="-457200">
              <a:buFont typeface="+mj-lt"/>
              <a:buAutoNum type="arabicPeriod"/>
            </a:pPr>
            <a:endParaRPr lang="sv-SE" sz="2000" dirty="0"/>
          </a:p>
          <a:p>
            <a:r>
              <a:rPr lang="sv-SE" sz="2000" dirty="0"/>
              <a:t>Get an ISRN </a:t>
            </a:r>
            <a:r>
              <a:rPr lang="sv-SE" sz="2000" dirty="0" err="1"/>
              <a:t>number</a:t>
            </a:r>
            <a:r>
              <a:rPr lang="sv-SE" sz="2000" dirty="0"/>
              <a:t> from </a:t>
            </a:r>
            <a:r>
              <a:rPr lang="en-US" sz="2000" dirty="0"/>
              <a:t>Oleg after the grades are published.</a:t>
            </a:r>
            <a:endParaRPr lang="en-US" sz="2000" dirty="0"/>
          </a:p>
          <a:p>
            <a:pPr marL="457200" indent="-457200">
              <a:buFont typeface="+mj-lt"/>
              <a:buAutoNum type="arabicPeriod"/>
            </a:pPr>
            <a:endParaRPr lang="en-US" sz="2000" dirty="0"/>
          </a:p>
          <a:p>
            <a:r>
              <a:rPr lang="en-US" sz="2000" dirty="0"/>
              <a:t>Use the ISRN and the template provided:</a:t>
            </a:r>
            <a:endParaRPr lang="en-US" sz="2000" dirty="0"/>
          </a:p>
          <a:p>
            <a:pPr marL="0" indent="0" algn="ctr">
              <a:buNone/>
            </a:pPr>
            <a:r>
              <a:rPr lang="sv-SE" sz="2000" dirty="0">
                <a:hlinkClick r:id="rId1"/>
              </a:rPr>
              <a:t>https://ep.liu.se/publicera-exjobb.aspx</a:t>
            </a:r>
            <a:r>
              <a:rPr lang="sv-SE" sz="2000" dirty="0"/>
              <a:t> </a:t>
            </a:r>
            <a:endParaRPr lang="sv-SE" sz="2000" dirty="0"/>
          </a:p>
          <a:p>
            <a:pPr marL="0" indent="0" algn="ctr">
              <a:buNone/>
            </a:pPr>
            <a:endParaRPr lang="en-US" sz="2000" dirty="0"/>
          </a:p>
          <a:p>
            <a:r>
              <a:rPr lang="en-US" sz="2000" dirty="0"/>
              <a:t>Consider publishing in E-press:</a:t>
            </a:r>
            <a:endParaRPr lang="en-US" sz="2000" dirty="0">
              <a:hlinkClick r:id="rId2"/>
            </a:endParaRPr>
          </a:p>
          <a:p>
            <a:pPr marL="0" indent="0" algn="ctr">
              <a:buNone/>
            </a:pPr>
            <a:r>
              <a:rPr lang="en-US" sz="2000" dirty="0">
                <a:hlinkClick r:id="rId1"/>
              </a:rPr>
              <a:t>https://ep.liu.se/publicera-exjobb.aspx</a:t>
            </a:r>
            <a:r>
              <a:rPr lang="en-US" sz="2000" dirty="0"/>
              <a:t> </a:t>
            </a:r>
            <a:endParaRPr lang="en-US" sz="2000" dirty="0"/>
          </a:p>
          <a:p>
            <a:pPr marL="0" indent="0" algn="ctr">
              <a:buNone/>
            </a:pPr>
            <a:endParaRPr lang="en-US" sz="2000" dirty="0"/>
          </a:p>
          <a:p>
            <a:r>
              <a:rPr lang="en-US" sz="2000" dirty="0"/>
              <a:t>Submit your pdf </a:t>
            </a:r>
            <a:r>
              <a:rPr lang="en-US" sz="2000"/>
              <a:t>to STIMA’s </a:t>
            </a:r>
            <a:r>
              <a:rPr lang="en-US" sz="2000" dirty="0"/>
              <a:t>administrator in order to save your PDF into the internal system </a:t>
            </a:r>
            <a:r>
              <a:rPr lang="en-US" sz="2000" dirty="0" err="1"/>
              <a:t>WexUpp</a:t>
            </a:r>
            <a:endParaRPr lang="en-US" sz="2000" dirty="0"/>
          </a:p>
          <a:p>
            <a:endParaRPr lang="en-US" sz="2000" dirty="0"/>
          </a:p>
          <a:p>
            <a:r>
              <a:rPr lang="en-US" sz="2000" dirty="0">
                <a:solidFill>
                  <a:srgbClr val="C00000"/>
                </a:solidFill>
              </a:rPr>
              <a:t>You will not get your grade in Ladok until the administrator gets the final PDF from you.</a:t>
            </a:r>
            <a:endParaRPr lang="sv-SE" sz="1800" dirty="0">
              <a:solidFill>
                <a:srgbClr val="C00000"/>
              </a:solidFill>
            </a:endParaRPr>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err="1"/>
              <a:t>Grading</a:t>
            </a:r>
            <a:endParaRPr lang="sv-SE" dirty="0"/>
          </a:p>
        </p:txBody>
      </p:sp>
      <p:sp>
        <p:nvSpPr>
          <p:cNvPr id="3" name="Platshållare för innehåll 2"/>
          <p:cNvSpPr>
            <a:spLocks noGrp="1"/>
          </p:cNvSpPr>
          <p:nvPr>
            <p:ph idx="1"/>
          </p:nvPr>
        </p:nvSpPr>
        <p:spPr>
          <a:xfrm>
            <a:off x="457200" y="1600200"/>
            <a:ext cx="8229600" cy="4709120"/>
          </a:xfrm>
        </p:spPr>
        <p:txBody>
          <a:bodyPr>
            <a:normAutofit/>
          </a:bodyPr>
          <a:lstStyle/>
          <a:p>
            <a:r>
              <a:rPr lang="sv-SE" sz="2400" dirty="0" err="1"/>
              <a:t>Grading</a:t>
            </a:r>
            <a:r>
              <a:rPr lang="sv-SE" sz="2400" dirty="0"/>
              <a:t> is </a:t>
            </a:r>
            <a:r>
              <a:rPr lang="sv-SE" sz="2400" dirty="0" err="1"/>
              <a:t>based</a:t>
            </a:r>
            <a:r>
              <a:rPr lang="sv-SE" sz="2400" dirty="0"/>
              <a:t> on:</a:t>
            </a:r>
            <a:endParaRPr lang="sv-SE" sz="2400" dirty="0"/>
          </a:p>
          <a:p>
            <a:pPr lvl="1"/>
            <a:r>
              <a:rPr lang="en-US" sz="1800" dirty="0"/>
              <a:t>The scientific quality of the thesis (adequacy and originality of the methods used, significance of obtained results) Note: “originality” is not equivalent to the development of new methods, rather that the methods used have been applied in a novel context.</a:t>
            </a:r>
            <a:endParaRPr lang="en-US" sz="1800" dirty="0"/>
          </a:p>
          <a:p>
            <a:pPr lvl="1"/>
            <a:endParaRPr lang="en-US" sz="1800" dirty="0"/>
          </a:p>
          <a:p>
            <a:pPr lvl="1"/>
            <a:r>
              <a:rPr lang="en-US" sz="1800" dirty="0"/>
              <a:t>Technical quality of the thesis (correctness of language and scientific terminology, implementation, quality of illustrations). This applies to the version of the manuscript submitted before the revision meeting and to the revisions made upon that.</a:t>
            </a:r>
            <a:endParaRPr lang="en-US" sz="1800" dirty="0"/>
          </a:p>
          <a:p>
            <a:pPr lvl="1"/>
            <a:endParaRPr lang="en-US" sz="1800" dirty="0"/>
          </a:p>
          <a:p>
            <a:pPr lvl="1"/>
            <a:r>
              <a:rPr lang="en-US" sz="1800" dirty="0"/>
              <a:t>The degree of independence. The supervisor gives an assessment to the examiner regarding the independence of the student during the master thesis. Listen to the supervisor’s advice, but do take own initiatives! (but always check with supervisor).</a:t>
            </a:r>
            <a:endParaRPr lang="en-US" sz="1800" dirty="0"/>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err="1"/>
              <a:t>Grading</a:t>
            </a:r>
            <a:r>
              <a:rPr lang="sv-SE" dirty="0"/>
              <a:t>	</a:t>
            </a:r>
            <a:endParaRPr lang="sv-SE" dirty="0"/>
          </a:p>
        </p:txBody>
      </p:sp>
      <p:sp>
        <p:nvSpPr>
          <p:cNvPr id="3" name="Platshållare för innehåll 2"/>
          <p:cNvSpPr>
            <a:spLocks noGrp="1"/>
          </p:cNvSpPr>
          <p:nvPr>
            <p:ph idx="1"/>
          </p:nvPr>
        </p:nvSpPr>
        <p:spPr/>
        <p:txBody>
          <a:bodyPr/>
          <a:lstStyle/>
          <a:p>
            <a:r>
              <a:rPr lang="sv-SE" sz="2400" dirty="0" err="1"/>
              <a:t>Grading</a:t>
            </a:r>
            <a:r>
              <a:rPr lang="sv-SE" sz="2400" dirty="0"/>
              <a:t> is </a:t>
            </a:r>
            <a:r>
              <a:rPr lang="sv-SE" sz="2400" dirty="0" err="1"/>
              <a:t>based</a:t>
            </a:r>
            <a:r>
              <a:rPr lang="sv-SE" sz="2400" dirty="0"/>
              <a:t> on:</a:t>
            </a:r>
            <a:endParaRPr lang="sv-SE" sz="2400" dirty="0"/>
          </a:p>
          <a:p>
            <a:pPr lvl="1"/>
            <a:r>
              <a:rPr lang="en-US" sz="2000" dirty="0"/>
              <a:t>Progression (showing sufficient progression between the successive supervision sessions and between different thesis draft versions)</a:t>
            </a:r>
            <a:endParaRPr lang="en-US" sz="2000" dirty="0"/>
          </a:p>
          <a:p>
            <a:pPr lvl="1"/>
            <a:endParaRPr lang="en-US" sz="2000" dirty="0"/>
          </a:p>
          <a:p>
            <a:pPr lvl="1"/>
            <a:r>
              <a:rPr lang="en-US" sz="2000" dirty="0"/>
              <a:t>Quality of the performed opposition, both at the revision meeting and at the final defense.</a:t>
            </a:r>
            <a:endParaRPr lang="en-US" sz="2000" dirty="0"/>
          </a:p>
          <a:p>
            <a:pPr lvl="1"/>
            <a:endParaRPr lang="en-US" sz="2000" dirty="0"/>
          </a:p>
          <a:p>
            <a:pPr lvl="1"/>
            <a:r>
              <a:rPr lang="en-US" sz="2000" dirty="0"/>
              <a:t>Quality of presentation and communication (clarity of oral presentation</a:t>
            </a:r>
            <a:r>
              <a:rPr lang="en-US" sz="2000"/>
              <a:t>, ability to </a:t>
            </a:r>
            <a:r>
              <a:rPr lang="en-US" sz="2000" dirty="0"/>
              <a:t>discuss and defend the thesis, ability to collaborate and communicate with the supervisor).</a:t>
            </a:r>
            <a:endParaRPr lang="sv-SE" sz="2000" dirty="0"/>
          </a:p>
          <a:p>
            <a:pPr lvl="1"/>
            <a:endParaRPr lang="sv-SE" dirty="0"/>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endParaRPr lang="sv-SE"/>
          </a:p>
        </p:txBody>
      </p:sp>
      <p:sp>
        <p:nvSpPr>
          <p:cNvPr id="3" name="Platshållare för innehåll 2"/>
          <p:cNvSpPr>
            <a:spLocks noGrp="1"/>
          </p:cNvSpPr>
          <p:nvPr>
            <p:ph idx="1"/>
          </p:nvPr>
        </p:nvSpPr>
        <p:spPr/>
        <p:txBody>
          <a:bodyPr/>
          <a:lstStyle/>
          <a:p>
            <a:pPr marL="0" indent="0">
              <a:buNone/>
            </a:pPr>
            <a:endParaRPr lang="ru-RU" dirty="0"/>
          </a:p>
          <a:p>
            <a:pPr marL="0" indent="0">
              <a:buNone/>
            </a:pPr>
            <a:endParaRPr lang="ru-RU" dirty="0"/>
          </a:p>
          <a:p>
            <a:pPr marL="0" indent="0">
              <a:buNone/>
            </a:pPr>
            <a:endParaRPr lang="ru-RU" dirty="0"/>
          </a:p>
          <a:p>
            <a:pPr marL="0" indent="0" algn="ctr">
              <a:buNone/>
            </a:pPr>
            <a:r>
              <a:rPr lang="en-US" sz="6600" b="1" dirty="0">
                <a:solidFill>
                  <a:srgbClr val="0000FF"/>
                </a:solidFill>
              </a:rPr>
              <a:t>Good luck!</a:t>
            </a:r>
            <a:endParaRPr lang="sv-SE" sz="6600" b="1" dirty="0">
              <a:solidFill>
                <a:srgbClr val="0000FF"/>
              </a:solidFill>
            </a:endParaRPr>
          </a:p>
        </p:txBody>
      </p:sp>
      <p:sp>
        <p:nvSpPr>
          <p:cNvPr id="4" name="Platshållare för sidfot 3"/>
          <p:cNvSpPr>
            <a:spLocks noGrp="1"/>
          </p:cNvSpPr>
          <p:nvPr>
            <p:ph type="ftr" sz="quarter" idx="11"/>
          </p:nvPr>
        </p:nvSpPr>
        <p:spPr/>
        <p:txBody>
          <a:bodyPr/>
          <a:lstStyle/>
          <a:p>
            <a:r>
              <a:rPr lang="sv-SE"/>
              <a:t>732A64</a:t>
            </a:r>
            <a:endParaRPr lang="sv-SE" dirty="0"/>
          </a:p>
        </p:txBody>
      </p:sp>
    </p:spTree>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0</TotalTime>
  <Words>18061</Words>
  <Application>WPS 演示</Application>
  <PresentationFormat>On-screen Show (4:3)</PresentationFormat>
  <Paragraphs>508</Paragraphs>
  <Slides>31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31</vt:i4>
      </vt:variant>
    </vt:vector>
  </HeadingPairs>
  <TitlesOfParts>
    <vt:vector size="44" baseType="lpstr">
      <vt:lpstr>Arial</vt:lpstr>
      <vt:lpstr>宋体</vt:lpstr>
      <vt:lpstr>Wingdings</vt:lpstr>
      <vt:lpstr>Calibri</vt:lpstr>
      <vt:lpstr>Helvetica Neue</vt:lpstr>
      <vt:lpstr>Times New Roman</vt:lpstr>
      <vt:lpstr>微软雅黑</vt:lpstr>
      <vt:lpstr>汉仪旗黑</vt:lpstr>
      <vt:lpstr>宋体</vt:lpstr>
      <vt:lpstr>Arial Unicode MS</vt:lpstr>
      <vt:lpstr>宋体-简</vt:lpstr>
      <vt:lpstr>Wingdings</vt:lpstr>
      <vt:lpstr>Theme1</vt:lpstr>
      <vt:lpstr>Biologically Informed Graph Neural Networks for Perturbation Effect Prediction</vt:lpstr>
      <vt:lpstr>Problem Statement</vt:lpstr>
      <vt:lpstr>PowerPoint 演示文稿</vt:lpstr>
      <vt:lpstr>Admission requirements – the hard facts</vt:lpstr>
      <vt:lpstr>Master thesis</vt:lpstr>
      <vt:lpstr>Groups	</vt:lpstr>
      <vt:lpstr>Master thesis</vt:lpstr>
      <vt:lpstr>Supervision</vt:lpstr>
      <vt:lpstr>Supervision</vt:lpstr>
      <vt:lpstr>Supervision</vt:lpstr>
      <vt:lpstr>Non-disclosure agreement</vt:lpstr>
      <vt:lpstr>Part 1: Problem formulation and literature review</vt:lpstr>
      <vt:lpstr>Thesis proposal seminar</vt:lpstr>
      <vt:lpstr>Thesis proposal seminar</vt:lpstr>
      <vt:lpstr>Part 2: Main work, first phase</vt:lpstr>
      <vt:lpstr>Part 2: Main work, first phase</vt:lpstr>
      <vt:lpstr>Mid-term seminar</vt:lpstr>
      <vt:lpstr>Part 3: Main work, second phase</vt:lpstr>
      <vt:lpstr>Part 3: Main work, second phase</vt:lpstr>
      <vt:lpstr>Part 3: Main work, second phase</vt:lpstr>
      <vt:lpstr>Use of generative AI	</vt:lpstr>
      <vt:lpstr>Part 3: Main work, second phase</vt:lpstr>
      <vt:lpstr>Revision meeting</vt:lpstr>
      <vt:lpstr>At the revision meeting		</vt:lpstr>
      <vt:lpstr>Part 4: Finalizing</vt:lpstr>
      <vt:lpstr>Defence seminar</vt:lpstr>
      <vt:lpstr>Part 4: Finalizing</vt:lpstr>
      <vt:lpstr>Part 4: Finalizing</vt:lpstr>
      <vt:lpstr>Grading</vt:lpstr>
      <vt:lpstr>Grading	</vt:lpstr>
      <vt:lpstr>PowerPoint 演示文稿</vt:lpstr>
    </vt:vector>
  </TitlesOfParts>
  <Company>Linkopings universitet, IDA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ThesisIntro</dc:title>
  <dc:creator>Oleg Sysoev</dc:creator>
  <cp:lastModifiedBy>Liuxi Mei</cp:lastModifiedBy>
  <cp:revision>1072</cp:revision>
  <cp:lastPrinted>2026-01-22T10:14:48Z</cp:lastPrinted>
  <dcterms:created xsi:type="dcterms:W3CDTF">2026-01-22T10:14:48Z</dcterms:created>
  <dcterms:modified xsi:type="dcterms:W3CDTF">2026-01-22T10:14:48Z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BC1F6D86CE26A92789E8716965A0340B_42</vt:lpwstr>
  </property>
  <property fmtid="{D5CDD505-2E9C-101B-9397-08002B2CF9AE}" pid="3" name="KSOProductBuildVer">
    <vt:lpwstr>2052-12.1.23143.23143</vt:lpwstr>
  </property>
</Properties>
</file>